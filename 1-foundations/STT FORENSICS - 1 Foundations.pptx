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7" r:id="rId4"/>
    <p:sldMasterId id="2147483738" r:id="rId5"/>
    <p:sldMasterId id="214748373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Space Grotesk Light"/>
      <p:regular r:id="rId30"/>
      <p:bold r:id="rId31"/>
    </p:embeddedFont>
    <p:embeddedFont>
      <p:font typeface="Space Grotesk Medium"/>
      <p:regular r:id="rId32"/>
      <p:bold r:id="rId33"/>
    </p:embeddedFont>
    <p:embeddedFont>
      <p:font typeface="Space Grotesk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paceGroteskLight-bold.fntdata"/><Relationship Id="rId30" Type="http://schemas.openxmlformats.org/officeDocument/2006/relationships/font" Target="fonts/SpaceGroteskLight-regular.fntdata"/><Relationship Id="rId11" Type="http://schemas.openxmlformats.org/officeDocument/2006/relationships/slide" Target="slides/slide4.xml"/><Relationship Id="rId33" Type="http://schemas.openxmlformats.org/officeDocument/2006/relationships/font" Target="fonts/SpaceGroteskMedium-bold.fntdata"/><Relationship Id="rId10" Type="http://schemas.openxmlformats.org/officeDocument/2006/relationships/slide" Target="slides/slide3.xml"/><Relationship Id="rId32" Type="http://schemas.openxmlformats.org/officeDocument/2006/relationships/font" Target="fonts/SpaceGroteskMedium-regular.fntdata"/><Relationship Id="rId13" Type="http://schemas.openxmlformats.org/officeDocument/2006/relationships/slide" Target="slides/slide6.xml"/><Relationship Id="rId35" Type="http://schemas.openxmlformats.org/officeDocument/2006/relationships/font" Target="fonts/SpaceGrotesk-bold.fntdata"/><Relationship Id="rId12" Type="http://schemas.openxmlformats.org/officeDocument/2006/relationships/slide" Target="slides/slide5.xml"/><Relationship Id="rId34" Type="http://schemas.openxmlformats.org/officeDocument/2006/relationships/font" Target="fonts/SpaceGrotesk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e28e0fc0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e28e0fc0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e28e0fc0db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e28e0fc0db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e2b01e7f91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e2b01e7f91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e2b01e7f91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e2b01e7f91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e2b01e7f91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e2b01e7f91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e2ae9e725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e2ae9e725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e2b01e7f91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e2b01e7f91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e2b01e7f91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e2b01e7f91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e2b01e7f91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e2b01e7f91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e2b01e7f91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3e2b01e7f91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e2b01e7f91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e2b01e7f91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e2b01e7f91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e2b01e7f91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e2b01e7f91_0_1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e2b01e7f91_0_1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e2b01e7f91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3e2b01e7f91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e28e0fc0db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e28e0fc0db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e2b01e7f91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e2b01e7f91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e2b01e7f91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3e2b01e7f91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e28e0fc0db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e28e0fc0db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e2b01e7f91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e2b01e7f91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e2b01e7f91_0_1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e2b01e7f91_0_1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e2b01e7f91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3e2b01e7f91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e2b01e7f91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3e2b01e7f91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59" name="Google Shape;59;p14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60" name="Google Shape;60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68" name="Google Shape;68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76" name="Google Shape;76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86" name="Google Shape;86;p15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100" name="Google Shape;100;p16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04" name="Google Shape;104;p16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06" name="Google Shape;106;p16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6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2" name="Google Shape;112;p17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115" name="Google Shape;115;p17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1" name="Google Shape;121;p17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3" name="Google Shape;123;p17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126" name="Google Shape;126;p18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30" name="Google Shape;130;p18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" name="Google Shape;136;p19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137" name="Google Shape;137;p19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44" name="Google Shape;144;p19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50" name="Google Shape;150;p19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9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4" name="Google Shape;154;p20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0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20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2" name="Google Shape;162;p20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0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64" name="Google Shape;164;p20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5" name="Google Shape;165;p20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69" name="Google Shape;169;p21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1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1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2" name="Google Shape;172;p21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74" name="Google Shape;174;p21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75" name="Google Shape;175;p21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6" name="Google Shape;176;p21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7" name="Google Shape;177;p21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21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79" name="Google Shape;179;p21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80" name="Google Shape;180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87" name="Google Shape;187;p21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88" name="Google Shape;188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96" name="Google Shape;196;p21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2" name="Google Shape;202;p22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3" name="Google Shape;203;p22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4" name="Google Shape;204;p22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5" name="Google Shape;205;p22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206" name="Google Shape;206;p22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207" name="Google Shape;207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14" name="Google Shape;214;p22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215" name="Google Shape;215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2" name="Google Shape;222;p22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223" name="Google Shape;223;p22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26" name="Google Shape;226;p22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27" name="Google Shape;227;p22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28" name="Google Shape;228;p22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23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2" name="Google Shape;232;p23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3" name="Google Shape;233;p23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5" name="Google Shape;235;p23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6" name="Google Shape;236;p23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2" name="Google Shape;242;p24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3" name="Google Shape;243;p24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4" name="Google Shape;244;p24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5" name="Google Shape;245;p24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9" name="Google Shape;249;p24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24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2" name="Google Shape;252;p24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4" name="Google Shape;254;p24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5" name="Google Shape;255;p24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8" name="Google Shape;258;p24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9" name="Google Shape;259;p24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3" name="Google Shape;263;p25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64" name="Google Shape;264;p25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65" name="Google Shape;265;p25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6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301" name="Google Shape;301;p26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03" name="Google Shape;303;p26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7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307" name="Google Shape;307;p27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11" name="Google Shape;311;p27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7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313" name="Google Shape;313;p27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7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7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7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17" name="Google Shape;317;p27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7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7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7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23" name="Google Shape;323;p28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324" name="Google Shape;324;p28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325" name="Google Shape;325;p28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6" name="Google Shape;326;p28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8" name="Google Shape;328;p28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9" name="Google Shape;329;p28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0" name="Google Shape;330;p28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9"/>
          <p:cNvPicPr preferRelativeResize="0"/>
          <p:nvPr/>
        </p:nvPicPr>
        <p:blipFill rotWithShape="1">
          <a:blip r:embed="rId2">
            <a:alphaModFix/>
          </a:blip>
          <a:srcRect b="48373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34" name="Google Shape;334;p29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35" name="Google Shape;335;p29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36" name="Google Shape;336;p29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337" name="Google Shape;337;p29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38" name="Google Shape;338;p29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29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1" name="Google Shape;341;p29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3" name="Google Shape;343;p29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4" name="Google Shape;344;p29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5" name="Google Shape;345;p29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7" name="Google Shape;347;p29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8" name="Google Shape;348;p29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0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51" name="Google Shape;351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54" name="Google Shape;354;p30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55" name="Google Shape;355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58" name="Google Shape;358;p30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59" name="Google Shape;359;p30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61" name="Google Shape;361;p30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62" name="Google Shape;362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65" name="Google Shape;365;p30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6" name="Google Shape;366;p30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7" name="Google Shape;367;p30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8" name="Google Shape;368;p30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0" name="Google Shape;370;p30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1" name="Google Shape;371;p30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31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74" name="Google Shape;374;p31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78" name="Google Shape;378;p31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379" name="Google Shape;379;p31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380" name="Google Shape;380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1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1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31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90" name="Google Shape;390;p3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2" name="Google Shape;392;p3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4" name="Google Shape;394;p3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9" name="Google Shape;399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4" name="Google Shape;40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3" name="Google Shape;413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8" name="Google Shape;41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9" name="Google Shape;41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4" name="Google Shape;424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8" name="Google Shape;428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7" name="Google Shape;437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1" name="Google Shape;441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2" name="Google Shape;442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7" name="Google Shape;447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8" name="Google Shape;448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0" name="Google Shape;450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4" name="Google Shape;454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5" name="Google Shape;455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6" name="Google Shape;456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7" name="Google Shape;457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8" name="Google Shape;458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4" name="Google Shape;464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7" name="Google Shape;467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2" name="Google Shape;472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5" name="Google Shape;475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1" name="Google Shape;481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2" name="Google Shape;482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3" name="Google Shape;483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4" name="Google Shape;494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03" name="Google Shape;503;p54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04" name="Google Shape;504;p54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05" name="Google Shape;505;p54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506" name="Google Shape;506;p54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507" name="Google Shape;507;p5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08" name="Google Shape;508;p5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09" name="Google Shape;509;p5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10" name="Google Shape;510;p5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11" name="Google Shape;511;p5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12" name="Google Shape;512;p5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13" name="Google Shape;513;p5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514" name="Google Shape;514;p54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515" name="Google Shape;515;p5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16" name="Google Shape;516;p5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17" name="Google Shape;517;p5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18" name="Google Shape;518;p5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19" name="Google Shape;519;p5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0" name="Google Shape;520;p5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1" name="Google Shape;521;p5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522" name="Google Shape;522;p54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523" name="Google Shape;523;p5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4" name="Google Shape;524;p5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5" name="Google Shape;525;p5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6" name="Google Shape;526;p5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7" name="Google Shape;527;p5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8" name="Google Shape;528;p5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9" name="Google Shape;529;p5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55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532" name="Google Shape;532;p55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533" name="Google Shape;533;p55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34" name="Google Shape;534;p55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35" name="Google Shape;535;p55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36" name="Google Shape;536;p55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37" name="Google Shape;537;p55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38" name="Google Shape;538;p55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539" name="Google Shape;539;p55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540" name="Google Shape;540;p55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41" name="Google Shape;541;p55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542" name="Google Shape;542;p55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543" name="Google Shape;543;p55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6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46" name="Google Shape;546;p56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547" name="Google Shape;547;p56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48" name="Google Shape;548;p56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49" name="Google Shape;549;p56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50" name="Google Shape;550;p56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51" name="Google Shape;551;p56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552" name="Google Shape;552;p56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553" name="Google Shape;553;p56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56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7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57" name="Google Shape;557;p57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558" name="Google Shape;558;p57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559" name="Google Shape;559;p57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0" name="Google Shape;560;p57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61" name="Google Shape;561;p57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562" name="Google Shape;562;p57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63" name="Google Shape;563;p57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64" name="Google Shape;564;p57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65" name="Google Shape;565;p57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66" name="Google Shape;566;p57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67" name="Google Shape;567;p57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68" name="Google Shape;568;p57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569" name="Google Shape;569;p57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70" name="Google Shape;570;p57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572;p58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573" name="Google Shape;573;p58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74" name="Google Shape;574;p58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75" name="Google Shape;575;p58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76" name="Google Shape;576;p58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77" name="Google Shape;577;p58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578" name="Google Shape;578;p58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79" name="Google Shape;579;p58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80" name="Google Shape;580;p58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9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83" name="Google Shape;583;p59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584" name="Google Shape;584;p59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5" name="Google Shape;585;p59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6" name="Google Shape;586;p59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7" name="Google Shape;587;p59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8" name="Google Shape;588;p59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9" name="Google Shape;589;p59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90" name="Google Shape;590;p59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91" name="Google Shape;591;p59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92" name="Google Shape;592;p59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3" name="Google Shape;593;p59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94" name="Google Shape;594;p59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95" name="Google Shape;595;p59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96" name="Google Shape;596;p59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597" name="Google Shape;597;p59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598" name="Google Shape;598;p59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0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1" name="Google Shape;601;p60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60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3" name="Google Shape;603;p60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4" name="Google Shape;604;p60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5" name="Google Shape;605;p60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6" name="Google Shape;606;p60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7" name="Google Shape;607;p60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8" name="Google Shape;608;p60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09" name="Google Shape;609;p60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0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611" name="Google Shape;611;p60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12" name="Google Shape;612;p60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13" name="Google Shape;613;p60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1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616" name="Google Shape;616;p61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617" name="Google Shape;617;p61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618" name="Google Shape;618;p61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9" name="Google Shape;619;p61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620" name="Google Shape;620;p61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621" name="Google Shape;621;p61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22" name="Google Shape;622;p61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23" name="Google Shape;623;p61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24" name="Google Shape;624;p61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25" name="Google Shape;625;p61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626" name="Google Shape;626;p61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627" name="Google Shape;627;p6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8" name="Google Shape;628;p6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9" name="Google Shape;629;p6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0" name="Google Shape;630;p6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1" name="Google Shape;631;p6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2" name="Google Shape;632;p6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3" name="Google Shape;633;p6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34" name="Google Shape;634;p61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635" name="Google Shape;635;p6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6" name="Google Shape;636;p6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7" name="Google Shape;637;p6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8" name="Google Shape;638;p6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9" name="Google Shape;639;p6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0" name="Google Shape;640;p6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1" name="Google Shape;641;p6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42" name="Google Shape;642;p61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643" name="Google Shape;643;p61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4" name="Google Shape;644;p61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5" name="Google Shape;645;p61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2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48" name="Google Shape;648;p62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49" name="Google Shape;649;p62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50" name="Google Shape;650;p62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51" name="Google Shape;651;p62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2" name="Google Shape;652;p62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653" name="Google Shape;653;p62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654" name="Google Shape;654;p6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5" name="Google Shape;655;p6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6" name="Google Shape;656;p6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7" name="Google Shape;657;p6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8" name="Google Shape;658;p6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9" name="Google Shape;659;p6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0" name="Google Shape;660;p6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61" name="Google Shape;661;p62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662" name="Google Shape;662;p6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3" name="Google Shape;663;p6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4" name="Google Shape;664;p6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5" name="Google Shape;665;p6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6" name="Google Shape;666;p6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7" name="Google Shape;667;p6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8" name="Google Shape;668;p6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69" name="Google Shape;669;p62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670" name="Google Shape;670;p62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1" name="Google Shape;671;p62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2" name="Google Shape;672;p62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673" name="Google Shape;673;p62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674" name="Google Shape;674;p62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675" name="Google Shape;675;p62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3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78" name="Google Shape;678;p63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79" name="Google Shape;679;p63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80" name="Google Shape;680;p63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81" name="Google Shape;681;p63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82" name="Google Shape;682;p63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83" name="Google Shape;683;p63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84" name="Google Shape;684;p63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4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87" name="Google Shape;687;p64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88" name="Google Shape;688;p64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89" name="Google Shape;689;p64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90" name="Google Shape;690;p64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91" name="Google Shape;691;p64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92" name="Google Shape;692;p64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93" name="Google Shape;693;p64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94" name="Google Shape;694;p64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95" name="Google Shape;695;p64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96" name="Google Shape;696;p64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97" name="Google Shape;697;p64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98" name="Google Shape;698;p64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99" name="Google Shape;699;p64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0" name="Google Shape;700;p64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1" name="Google Shape;701;p64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2" name="Google Shape;702;p64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3" name="Google Shape;703;p64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4" name="Google Shape;704;p64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5" name="Google Shape;705;p64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6" name="Google Shape;706;p64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5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09" name="Google Shape;709;p65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10" name="Google Shape;710;p65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711" name="Google Shape;711;p65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712" name="Google Shape;712;p65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3" name="Google Shape;713;p65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4" name="Google Shape;714;p65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5" name="Google Shape;715;p65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6" name="Google Shape;716;p65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7" name="Google Shape;717;p65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8" name="Google Shape;718;p65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9" name="Google Shape;719;p65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0" name="Google Shape;720;p65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1" name="Google Shape;721;p65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2" name="Google Shape;722;p65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3" name="Google Shape;723;p65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4" name="Google Shape;724;p65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5" name="Google Shape;725;p65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6" name="Google Shape;726;p65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7" name="Google Shape;727;p65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8" name="Google Shape;728;p65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9" name="Google Shape;729;p65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0" name="Google Shape;730;p65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1" name="Google Shape;731;p65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2" name="Google Shape;732;p65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3" name="Google Shape;733;p65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4" name="Google Shape;734;p65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5" name="Google Shape;735;p65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6" name="Google Shape;736;p65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7" name="Google Shape;737;p65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8" name="Google Shape;738;p65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9" name="Google Shape;739;p65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0" name="Google Shape;740;p65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1" name="Google Shape;741;p65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2" name="Google Shape;742;p65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3" name="Google Shape;743;p65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4" name="Google Shape;744;p65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5" name="Google Shape;745;p65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" name="Google Shape;747;p66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748" name="Google Shape;748;p66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9" name="Google Shape;749;p66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50" name="Google Shape;750;p66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51" name="Google Shape;751;p66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3" name="Google Shape;753;p67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754" name="Google Shape;754;p67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55" name="Google Shape;755;p67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56" name="Google Shape;756;p67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57" name="Google Shape;757;p67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58" name="Google Shape;758;p67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67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760" name="Google Shape;760;p67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67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67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67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64" name="Google Shape;764;p67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67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67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8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70" name="Google Shape;770;p68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771" name="Google Shape;771;p68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772" name="Google Shape;772;p68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73" name="Google Shape;773;p68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74" name="Google Shape;774;p68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75" name="Google Shape;775;p68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76" name="Google Shape;776;p68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77" name="Google Shape;777;p68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69"/>
          <p:cNvPicPr preferRelativeResize="0"/>
          <p:nvPr/>
        </p:nvPicPr>
        <p:blipFill rotWithShape="1">
          <a:blip r:embed="rId2">
            <a:alphaModFix/>
          </a:blip>
          <a:srcRect b="48373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9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781" name="Google Shape;781;p69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82" name="Google Shape;782;p69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83" name="Google Shape;783;p69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784" name="Google Shape;784;p69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785" name="Google Shape;785;p69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6" name="Google Shape;786;p69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87" name="Google Shape;787;p69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88" name="Google Shape;788;p69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89" name="Google Shape;789;p69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90" name="Google Shape;790;p69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91" name="Google Shape;791;p69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92" name="Google Shape;792;p69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93" name="Google Shape;793;p69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94" name="Google Shape;794;p69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95" name="Google Shape;795;p69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70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798" name="Google Shape;798;p7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9" name="Google Shape;799;p7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00" name="Google Shape;800;p7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801" name="Google Shape;801;p70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802" name="Google Shape;802;p7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03" name="Google Shape;803;p7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04" name="Google Shape;804;p7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805" name="Google Shape;805;p70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806" name="Google Shape;806;p70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07" name="Google Shape;807;p70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808" name="Google Shape;808;p70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809" name="Google Shape;809;p7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10" name="Google Shape;810;p7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11" name="Google Shape;811;p7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13" name="Google Shape;813;p70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14" name="Google Shape;814;p70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15" name="Google Shape;815;p70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816" name="Google Shape;816;p70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817" name="Google Shape;817;p70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818" name="Google Shape;818;p70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71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821" name="Google Shape;821;p71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22" name="Google Shape;822;p71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23" name="Google Shape;823;p71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24" name="Google Shape;824;p71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825" name="Google Shape;825;p71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826" name="Google Shape;826;p71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827" name="Google Shape;827;p7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1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71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6" name="Google Shape;836;p71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837" name="Google Shape;837;p7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38" name="Google Shape;838;p7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39" name="Google Shape;839;p7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40" name="Google Shape;840;p7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41" name="Google Shape;841;p7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42" name="Google Shape;842;p7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43" name="Google Shape;843;p7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6" name="Google Shape;846;p7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1" name="Google Shape;851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4" name="Google Shape;854;p7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5" name="Google Shape;855;p7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0" name="Google Shape;860;p7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5" name="Google Shape;865;p7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6" name="Google Shape;866;p7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8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8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71" name="Google Shape;871;p8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8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5" name="Google Shape;875;p8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6" name="Google Shape;876;p8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7" name="Google Shape;877;p8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8" name="Google Shape;878;p8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9" name="Google Shape;879;p8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0" name="Google Shape;880;p8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3" name="Google Shape;883;p8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4" name="Google Shape;884;p8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7" name="Google Shape;887;p8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8" name="Google Shape;888;p8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9" name="Google Shape;889;p8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0" name="Google Shape;890;p8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3" name="Google Shape;893;p8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4" name="Google Shape;894;p8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95" name="Google Shape;895;p8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6" name="Google Shape;896;p8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7" name="Google Shape;897;p8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8" name="Google Shape;898;p8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8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1" name="Google Shape;901;p8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2" name="Google Shape;902;p8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3" name="Google Shape;903;p8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4" name="Google Shape;904;p8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05" name="Google Shape;905;p8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6" name="Google Shape;906;p8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7" name="Google Shape;907;p8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8" name="Google Shape;908;p8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1" name="Google Shape;911;p8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4" name="Google Shape;914;p8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15" name="Google Shape;915;p8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16" name="Google Shape;916;p8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7" name="Google Shape;917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8" name="Google Shape;918;p8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9" name="Google Shape;919;p8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9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2" name="Google Shape;922;p9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9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9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5" name="Google Shape;925;p9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26" name="Google Shape;926;p9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7" name="Google Shape;927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8" name="Google Shape;928;p9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9" name="Google Shape;929;p9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0" name="Google Shape;930;p9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9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9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5" name="Google Shape;935;p9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6" name="Google Shape;936;p9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7" name="Google Shape;937;p9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8" name="Google Shape;938;p9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9" name="Google Shape;939;p9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40" name="Google Shape;940;p9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1" name="Google Shape;941;p9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42" name="Google Shape;942;p9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43" name="Google Shape;943;p9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4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7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79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9" name="Google Shape;499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00" name="Google Shape;50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3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730" r:id="rId33"/>
    <p:sldLayoutId id="2147483731" r:id="rId34"/>
    <p:sldLayoutId id="2147483732" r:id="rId35"/>
    <p:sldLayoutId id="2147483733" r:id="rId36"/>
    <p:sldLayoutId id="2147483734" r:id="rId37"/>
    <p:sldLayoutId id="2147483735" r:id="rId38"/>
    <p:sldLayoutId id="214748373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3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41.png"/><Relationship Id="rId7" Type="http://schemas.openxmlformats.org/officeDocument/2006/relationships/image" Target="../media/image34.png"/><Relationship Id="rId8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93"/>
          <p:cNvSpPr txBox="1"/>
          <p:nvPr>
            <p:ph idx="4" type="title"/>
          </p:nvPr>
        </p:nvSpPr>
        <p:spPr>
          <a:xfrm>
            <a:off x="699975" y="734275"/>
            <a:ext cx="59436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FORENSICS</a:t>
            </a:r>
            <a:endParaRPr/>
          </a:p>
        </p:txBody>
      </p:sp>
      <p:sp>
        <p:nvSpPr>
          <p:cNvPr id="949" name="Google Shape;949;p93"/>
          <p:cNvSpPr txBox="1"/>
          <p:nvPr>
            <p:ph type="title"/>
          </p:nvPr>
        </p:nvSpPr>
        <p:spPr>
          <a:xfrm>
            <a:off x="699986" y="1615235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1 - Foundations</a:t>
            </a:r>
            <a:endParaRPr/>
          </a:p>
        </p:txBody>
      </p:sp>
      <p:pic>
        <p:nvPicPr>
          <p:cNvPr id="950" name="Google Shape;95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9121" y="3888066"/>
            <a:ext cx="398545" cy="3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93"/>
          <p:cNvSpPr txBox="1"/>
          <p:nvPr/>
        </p:nvSpPr>
        <p:spPr>
          <a:xfrm>
            <a:off x="7088825" y="4215925"/>
            <a:ext cx="889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!! nos4a2</a:t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2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@sluzypt</a:t>
            </a:r>
            <a:endParaRPr sz="15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952" name="Google Shape;952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950" y="4021575"/>
            <a:ext cx="966401" cy="4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93"/>
          <p:cNvSpPr txBox="1"/>
          <p:nvPr/>
        </p:nvSpPr>
        <p:spPr>
          <a:xfrm>
            <a:off x="7978025" y="4215925"/>
            <a:ext cx="1075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AFSC19.EXE @afsc19</a:t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94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ROAD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MAP</a:t>
            </a:r>
            <a:endParaRPr/>
          </a:p>
        </p:txBody>
      </p:sp>
      <p:sp>
        <p:nvSpPr>
          <p:cNvPr id="959" name="Google Shape;959;p94"/>
          <p:cNvSpPr txBox="1"/>
          <p:nvPr>
            <p:ph idx="1" type="subTitle"/>
          </p:nvPr>
        </p:nvSpPr>
        <p:spPr>
          <a:xfrm>
            <a:off x="5609451" y="208515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2. Disks, registries</a:t>
            </a:r>
            <a:endParaRPr/>
          </a:p>
        </p:txBody>
      </p:sp>
      <p:sp>
        <p:nvSpPr>
          <p:cNvPr id="960" name="Google Shape;960;p94"/>
          <p:cNvSpPr txBox="1"/>
          <p:nvPr>
            <p:ph idx="3" type="subTitle"/>
          </p:nvPr>
        </p:nvSpPr>
        <p:spPr>
          <a:xfrm>
            <a:off x="5609450" y="1578450"/>
            <a:ext cx="30360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1. Foundations</a:t>
            </a:r>
            <a:endParaRPr/>
          </a:p>
        </p:txBody>
      </p:sp>
      <p:sp>
        <p:nvSpPr>
          <p:cNvPr id="961" name="Google Shape;961;p94"/>
          <p:cNvSpPr txBox="1"/>
          <p:nvPr>
            <p:ph idx="2" type="subTitle"/>
          </p:nvPr>
        </p:nvSpPr>
        <p:spPr>
          <a:xfrm>
            <a:off x="5609451" y="259185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3. Memory</a:t>
            </a:r>
            <a:endParaRPr/>
          </a:p>
        </p:txBody>
      </p:sp>
      <p:sp>
        <p:nvSpPr>
          <p:cNvPr id="962" name="Google Shape;962;p94"/>
          <p:cNvSpPr txBox="1"/>
          <p:nvPr>
            <p:ph idx="2" type="subTitle"/>
          </p:nvPr>
        </p:nvSpPr>
        <p:spPr>
          <a:xfrm>
            <a:off x="5609451" y="307845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4. ???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9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Forensics?</a:t>
            </a:r>
            <a:endParaRPr/>
          </a:p>
        </p:txBody>
      </p:sp>
      <p:pic>
        <p:nvPicPr>
          <p:cNvPr id="968" name="Google Shape;968;p95" title="491264710_697020962715692_5054016165463942627_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300" y="1198427"/>
            <a:ext cx="6937404" cy="36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9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&amp; Dynamic Analysis</a:t>
            </a:r>
            <a:endParaRPr/>
          </a:p>
        </p:txBody>
      </p:sp>
      <p:pic>
        <p:nvPicPr>
          <p:cNvPr id="974" name="Google Shape;974;p96" title="imag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50" y="1434837"/>
            <a:ext cx="3619250" cy="25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96"/>
          <p:cNvSpPr txBox="1"/>
          <p:nvPr>
            <p:ph idx="5" type="subTitle"/>
          </p:nvPr>
        </p:nvSpPr>
        <p:spPr>
          <a:xfrm>
            <a:off x="351113" y="38825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</a:t>
            </a:r>
            <a:endParaRPr/>
          </a:p>
        </p:txBody>
      </p:sp>
      <p:sp>
        <p:nvSpPr>
          <p:cNvPr id="976" name="Google Shape;976;p96"/>
          <p:cNvSpPr txBox="1"/>
          <p:nvPr>
            <p:ph idx="5" type="subTitle"/>
          </p:nvPr>
        </p:nvSpPr>
        <p:spPr>
          <a:xfrm>
            <a:off x="3983091" y="2461275"/>
            <a:ext cx="11778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</a:t>
            </a:r>
            <a:endParaRPr/>
          </a:p>
        </p:txBody>
      </p:sp>
      <p:pic>
        <p:nvPicPr>
          <p:cNvPr id="977" name="Google Shape;977;p96" title="image-removebg-preview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700" y="1549712"/>
            <a:ext cx="4092425" cy="23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96"/>
          <p:cNvSpPr txBox="1"/>
          <p:nvPr>
            <p:ph idx="5" type="subTitle"/>
          </p:nvPr>
        </p:nvSpPr>
        <p:spPr>
          <a:xfrm>
            <a:off x="5006650" y="38825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9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&amp; Dynamic Analysis</a:t>
            </a:r>
            <a:endParaRPr/>
          </a:p>
        </p:txBody>
      </p:sp>
      <p:sp>
        <p:nvSpPr>
          <p:cNvPr id="984" name="Google Shape;984;p97"/>
          <p:cNvSpPr txBox="1"/>
          <p:nvPr>
            <p:ph idx="5" type="subTitle"/>
          </p:nvPr>
        </p:nvSpPr>
        <p:spPr>
          <a:xfrm>
            <a:off x="342125" y="38825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</a:t>
            </a:r>
            <a:endParaRPr/>
          </a:p>
        </p:txBody>
      </p:sp>
      <p:sp>
        <p:nvSpPr>
          <p:cNvPr id="985" name="Google Shape;985;p97"/>
          <p:cNvSpPr txBox="1"/>
          <p:nvPr>
            <p:ph idx="5" type="subTitle"/>
          </p:nvPr>
        </p:nvSpPr>
        <p:spPr>
          <a:xfrm>
            <a:off x="3983091" y="2461275"/>
            <a:ext cx="11778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</a:t>
            </a:r>
            <a:endParaRPr/>
          </a:p>
        </p:txBody>
      </p:sp>
      <p:pic>
        <p:nvPicPr>
          <p:cNvPr id="986" name="Google Shape;986;p97" title="dynamic1.png"/>
          <p:cNvPicPr preferRelativeResize="0"/>
          <p:nvPr/>
        </p:nvPicPr>
        <p:blipFill rotWithShape="1">
          <a:blip r:embed="rId3">
            <a:alphaModFix/>
          </a:blip>
          <a:srcRect b="110" l="0" r="0" t="120"/>
          <a:stretch/>
        </p:blipFill>
        <p:spPr>
          <a:xfrm>
            <a:off x="4879700" y="1549712"/>
            <a:ext cx="4092424" cy="23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97"/>
          <p:cNvSpPr txBox="1"/>
          <p:nvPr>
            <p:ph idx="5" type="subTitle"/>
          </p:nvPr>
        </p:nvSpPr>
        <p:spPr>
          <a:xfrm>
            <a:off x="5006650" y="38825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</a:t>
            </a:r>
            <a:endParaRPr/>
          </a:p>
        </p:txBody>
      </p:sp>
      <p:pic>
        <p:nvPicPr>
          <p:cNvPr id="988" name="Google Shape;988;p97" title="static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177" y="1678776"/>
            <a:ext cx="4092426" cy="2046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9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encoding schemes</a:t>
            </a:r>
            <a:endParaRPr/>
          </a:p>
        </p:txBody>
      </p:sp>
      <p:pic>
        <p:nvPicPr>
          <p:cNvPr id="994" name="Google Shape;994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712" y="1277900"/>
            <a:ext cx="4946568" cy="353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9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encoding schemes</a:t>
            </a:r>
            <a:endParaRPr/>
          </a:p>
        </p:txBody>
      </p:sp>
      <p:pic>
        <p:nvPicPr>
          <p:cNvPr id="1000" name="Google Shape;100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887" y="1277900"/>
            <a:ext cx="5212224" cy="355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00"/>
          <p:cNvSpPr txBox="1"/>
          <p:nvPr>
            <p:ph idx="5" type="subTitle"/>
          </p:nvPr>
        </p:nvSpPr>
        <p:spPr>
          <a:xfrm>
            <a:off x="2330147" y="1600102"/>
            <a:ext cx="4821900" cy="604500"/>
          </a:xfrm>
          <a:prstGeom prst="rect">
            <a:avLst/>
          </a:prstGeom>
        </p:spPr>
        <p:txBody>
          <a:bodyPr anchorCtr="0" anchor="t" bIns="114850" lIns="114850" spcFirstLastPara="1" rIns="114850" wrap="square" tIns="11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12"/>
              <a:t>Infinite encodings!</a:t>
            </a:r>
            <a:endParaRPr sz="2512"/>
          </a:p>
        </p:txBody>
      </p:sp>
      <p:sp>
        <p:nvSpPr>
          <p:cNvPr id="1006" name="Google Shape;1006;p10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encoding schemes</a:t>
            </a:r>
            <a:endParaRPr/>
          </a:p>
        </p:txBody>
      </p:sp>
      <p:pic>
        <p:nvPicPr>
          <p:cNvPr id="1007" name="Google Shape;100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175" y="2362198"/>
            <a:ext cx="7177651" cy="118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01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BUT WHAT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ENCODING IS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THIS?</a:t>
            </a:r>
            <a:endParaRPr/>
          </a:p>
        </p:txBody>
      </p:sp>
      <p:grpSp>
        <p:nvGrpSpPr>
          <p:cNvPr id="1013" name="Google Shape;1013;p101"/>
          <p:cNvGrpSpPr/>
          <p:nvPr/>
        </p:nvGrpSpPr>
        <p:grpSpPr>
          <a:xfrm>
            <a:off x="5960893" y="1195589"/>
            <a:ext cx="547211" cy="104394"/>
            <a:chOff x="238125" y="2176075"/>
            <a:chExt cx="7143750" cy="1362850"/>
          </a:xfrm>
        </p:grpSpPr>
        <p:sp>
          <p:nvSpPr>
            <p:cNvPr id="1014" name="Google Shape;1014;p101"/>
            <p:cNvSpPr/>
            <p:nvPr/>
          </p:nvSpPr>
          <p:spPr>
            <a:xfrm>
              <a:off x="1625925" y="3089625"/>
              <a:ext cx="4368150" cy="449300"/>
            </a:xfrm>
            <a:custGeom>
              <a:rect b="b" l="l" r="r" t="t"/>
              <a:pathLst>
                <a:path extrusionOk="0" h="17972" w="174726">
                  <a:moveTo>
                    <a:pt x="1" y="0"/>
                  </a:moveTo>
                  <a:lnTo>
                    <a:pt x="1" y="17972"/>
                  </a:lnTo>
                  <a:lnTo>
                    <a:pt x="174725" y="17972"/>
                  </a:lnTo>
                  <a:lnTo>
                    <a:pt x="1747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15" name="Google Shape;1015;p101"/>
            <p:cNvSpPr/>
            <p:nvPr/>
          </p:nvSpPr>
          <p:spPr>
            <a:xfrm>
              <a:off x="1161650" y="2635350"/>
              <a:ext cx="464300" cy="454300"/>
            </a:xfrm>
            <a:custGeom>
              <a:rect b="b" l="l" r="r" t="t"/>
              <a:pathLst>
                <a:path extrusionOk="0" h="18172" w="18572">
                  <a:moveTo>
                    <a:pt x="1" y="0"/>
                  </a:moveTo>
                  <a:lnTo>
                    <a:pt x="1" y="18171"/>
                  </a:lnTo>
                  <a:lnTo>
                    <a:pt x="18572" y="18171"/>
                  </a:lnTo>
                  <a:lnTo>
                    <a:pt x="18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16" name="Google Shape;1016;p101"/>
            <p:cNvSpPr/>
            <p:nvPr/>
          </p:nvSpPr>
          <p:spPr>
            <a:xfrm>
              <a:off x="702375" y="2176075"/>
              <a:ext cx="459300" cy="459300"/>
            </a:xfrm>
            <a:custGeom>
              <a:rect b="b" l="l" r="r" t="t"/>
              <a:pathLst>
                <a:path extrusionOk="0" h="18372" w="18372">
                  <a:moveTo>
                    <a:pt x="1" y="0"/>
                  </a:moveTo>
                  <a:lnTo>
                    <a:pt x="1" y="18371"/>
                  </a:lnTo>
                  <a:lnTo>
                    <a:pt x="18372" y="18371"/>
                  </a:lnTo>
                  <a:lnTo>
                    <a:pt x="18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17" name="Google Shape;1017;p101"/>
            <p:cNvSpPr/>
            <p:nvPr/>
          </p:nvSpPr>
          <p:spPr>
            <a:xfrm>
              <a:off x="238125" y="2635350"/>
              <a:ext cx="464275" cy="454300"/>
            </a:xfrm>
            <a:custGeom>
              <a:rect b="b" l="l" r="r" t="t"/>
              <a:pathLst>
                <a:path extrusionOk="0" h="18172" w="18571">
                  <a:moveTo>
                    <a:pt x="0" y="0"/>
                  </a:moveTo>
                  <a:lnTo>
                    <a:pt x="0" y="18171"/>
                  </a:lnTo>
                  <a:lnTo>
                    <a:pt x="18571" y="18171"/>
                  </a:lnTo>
                  <a:lnTo>
                    <a:pt x="185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18" name="Google Shape;1018;p101"/>
            <p:cNvSpPr/>
            <p:nvPr/>
          </p:nvSpPr>
          <p:spPr>
            <a:xfrm>
              <a:off x="6922575" y="2635350"/>
              <a:ext cx="459300" cy="454300"/>
            </a:xfrm>
            <a:custGeom>
              <a:rect b="b" l="l" r="r" t="t"/>
              <a:pathLst>
                <a:path extrusionOk="0" h="18172" w="18372">
                  <a:moveTo>
                    <a:pt x="1" y="0"/>
                  </a:moveTo>
                  <a:lnTo>
                    <a:pt x="1" y="18171"/>
                  </a:lnTo>
                  <a:lnTo>
                    <a:pt x="18372" y="18171"/>
                  </a:lnTo>
                  <a:lnTo>
                    <a:pt x="18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19" name="Google Shape;1019;p101"/>
            <p:cNvSpPr/>
            <p:nvPr/>
          </p:nvSpPr>
          <p:spPr>
            <a:xfrm>
              <a:off x="6458325" y="2176075"/>
              <a:ext cx="464275" cy="459300"/>
            </a:xfrm>
            <a:custGeom>
              <a:rect b="b" l="l" r="r" t="t"/>
              <a:pathLst>
                <a:path extrusionOk="0" h="18372" w="18571">
                  <a:moveTo>
                    <a:pt x="0" y="0"/>
                  </a:moveTo>
                  <a:lnTo>
                    <a:pt x="0" y="18371"/>
                  </a:lnTo>
                  <a:lnTo>
                    <a:pt x="18571" y="18371"/>
                  </a:lnTo>
                  <a:lnTo>
                    <a:pt x="185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0" name="Google Shape;1020;p101"/>
            <p:cNvSpPr/>
            <p:nvPr/>
          </p:nvSpPr>
          <p:spPr>
            <a:xfrm>
              <a:off x="5994050" y="2635350"/>
              <a:ext cx="464300" cy="454300"/>
            </a:xfrm>
            <a:custGeom>
              <a:rect b="b" l="l" r="r" t="t"/>
              <a:pathLst>
                <a:path extrusionOk="0" h="18172" w="18572">
                  <a:moveTo>
                    <a:pt x="0" y="0"/>
                  </a:moveTo>
                  <a:lnTo>
                    <a:pt x="0" y="18171"/>
                  </a:lnTo>
                  <a:lnTo>
                    <a:pt x="18571" y="18171"/>
                  </a:lnTo>
                  <a:lnTo>
                    <a:pt x="185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pic>
        <p:nvPicPr>
          <p:cNvPr id="1021" name="Google Shape;102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300" y="2296275"/>
            <a:ext cx="1688650" cy="16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101"/>
          <p:cNvSpPr txBox="1"/>
          <p:nvPr/>
        </p:nvSpPr>
        <p:spPr>
          <a:xfrm>
            <a:off x="3488739" y="2909750"/>
            <a:ext cx="277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CyberChef it!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3" name="Google Shape;1023;p101"/>
          <p:cNvSpPr txBox="1"/>
          <p:nvPr/>
        </p:nvSpPr>
        <p:spPr>
          <a:xfrm>
            <a:off x="3184500" y="4132675"/>
            <a:ext cx="277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PS: Check entrophy!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4" name="Google Shape;1024;p101"/>
          <p:cNvSpPr txBox="1"/>
          <p:nvPr/>
        </p:nvSpPr>
        <p:spPr>
          <a:xfrm>
            <a:off x="2483550" y="4506676"/>
            <a:ext cx="417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Space Grotesk"/>
                <a:ea typeface="Space Grotesk"/>
                <a:cs typeface="Space Grotesk"/>
                <a:sym typeface="Space Grotesk"/>
              </a:rPr>
              <a:t>High Entrophy = Compressed data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02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CYBERCHEF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ISN’T ALL!</a:t>
            </a:r>
            <a:endParaRPr/>
          </a:p>
        </p:txBody>
      </p:sp>
      <p:grpSp>
        <p:nvGrpSpPr>
          <p:cNvPr id="1030" name="Google Shape;1030;p102"/>
          <p:cNvGrpSpPr/>
          <p:nvPr/>
        </p:nvGrpSpPr>
        <p:grpSpPr>
          <a:xfrm>
            <a:off x="5960893" y="1195589"/>
            <a:ext cx="547211" cy="104394"/>
            <a:chOff x="238125" y="2176075"/>
            <a:chExt cx="7143750" cy="1362850"/>
          </a:xfrm>
        </p:grpSpPr>
        <p:sp>
          <p:nvSpPr>
            <p:cNvPr id="1031" name="Google Shape;1031;p102"/>
            <p:cNvSpPr/>
            <p:nvPr/>
          </p:nvSpPr>
          <p:spPr>
            <a:xfrm>
              <a:off x="1625925" y="3089625"/>
              <a:ext cx="4368150" cy="449300"/>
            </a:xfrm>
            <a:custGeom>
              <a:rect b="b" l="l" r="r" t="t"/>
              <a:pathLst>
                <a:path extrusionOk="0" h="17972" w="174726">
                  <a:moveTo>
                    <a:pt x="1" y="0"/>
                  </a:moveTo>
                  <a:lnTo>
                    <a:pt x="1" y="17972"/>
                  </a:lnTo>
                  <a:lnTo>
                    <a:pt x="174725" y="17972"/>
                  </a:lnTo>
                  <a:lnTo>
                    <a:pt x="1747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2" name="Google Shape;1032;p102"/>
            <p:cNvSpPr/>
            <p:nvPr/>
          </p:nvSpPr>
          <p:spPr>
            <a:xfrm>
              <a:off x="1161650" y="2635350"/>
              <a:ext cx="464300" cy="454300"/>
            </a:xfrm>
            <a:custGeom>
              <a:rect b="b" l="l" r="r" t="t"/>
              <a:pathLst>
                <a:path extrusionOk="0" h="18172" w="18572">
                  <a:moveTo>
                    <a:pt x="1" y="0"/>
                  </a:moveTo>
                  <a:lnTo>
                    <a:pt x="1" y="18171"/>
                  </a:lnTo>
                  <a:lnTo>
                    <a:pt x="18572" y="18171"/>
                  </a:lnTo>
                  <a:lnTo>
                    <a:pt x="18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3" name="Google Shape;1033;p102"/>
            <p:cNvSpPr/>
            <p:nvPr/>
          </p:nvSpPr>
          <p:spPr>
            <a:xfrm>
              <a:off x="702375" y="2176075"/>
              <a:ext cx="459300" cy="459300"/>
            </a:xfrm>
            <a:custGeom>
              <a:rect b="b" l="l" r="r" t="t"/>
              <a:pathLst>
                <a:path extrusionOk="0" h="18372" w="18372">
                  <a:moveTo>
                    <a:pt x="1" y="0"/>
                  </a:moveTo>
                  <a:lnTo>
                    <a:pt x="1" y="18371"/>
                  </a:lnTo>
                  <a:lnTo>
                    <a:pt x="18372" y="18371"/>
                  </a:lnTo>
                  <a:lnTo>
                    <a:pt x="18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4" name="Google Shape;1034;p102"/>
            <p:cNvSpPr/>
            <p:nvPr/>
          </p:nvSpPr>
          <p:spPr>
            <a:xfrm>
              <a:off x="238125" y="2635350"/>
              <a:ext cx="464275" cy="454300"/>
            </a:xfrm>
            <a:custGeom>
              <a:rect b="b" l="l" r="r" t="t"/>
              <a:pathLst>
                <a:path extrusionOk="0" h="18172" w="18571">
                  <a:moveTo>
                    <a:pt x="0" y="0"/>
                  </a:moveTo>
                  <a:lnTo>
                    <a:pt x="0" y="18171"/>
                  </a:lnTo>
                  <a:lnTo>
                    <a:pt x="18571" y="18171"/>
                  </a:lnTo>
                  <a:lnTo>
                    <a:pt x="185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5" name="Google Shape;1035;p102"/>
            <p:cNvSpPr/>
            <p:nvPr/>
          </p:nvSpPr>
          <p:spPr>
            <a:xfrm>
              <a:off x="6922575" y="2635350"/>
              <a:ext cx="459300" cy="454300"/>
            </a:xfrm>
            <a:custGeom>
              <a:rect b="b" l="l" r="r" t="t"/>
              <a:pathLst>
                <a:path extrusionOk="0" h="18172" w="18372">
                  <a:moveTo>
                    <a:pt x="1" y="0"/>
                  </a:moveTo>
                  <a:lnTo>
                    <a:pt x="1" y="18171"/>
                  </a:lnTo>
                  <a:lnTo>
                    <a:pt x="18372" y="18171"/>
                  </a:lnTo>
                  <a:lnTo>
                    <a:pt x="18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6" name="Google Shape;1036;p102"/>
            <p:cNvSpPr/>
            <p:nvPr/>
          </p:nvSpPr>
          <p:spPr>
            <a:xfrm>
              <a:off x="6458325" y="2176075"/>
              <a:ext cx="464275" cy="459300"/>
            </a:xfrm>
            <a:custGeom>
              <a:rect b="b" l="l" r="r" t="t"/>
              <a:pathLst>
                <a:path extrusionOk="0" h="18372" w="18571">
                  <a:moveTo>
                    <a:pt x="0" y="0"/>
                  </a:moveTo>
                  <a:lnTo>
                    <a:pt x="0" y="18371"/>
                  </a:lnTo>
                  <a:lnTo>
                    <a:pt x="18571" y="18371"/>
                  </a:lnTo>
                  <a:lnTo>
                    <a:pt x="185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7" name="Google Shape;1037;p102"/>
            <p:cNvSpPr/>
            <p:nvPr/>
          </p:nvSpPr>
          <p:spPr>
            <a:xfrm>
              <a:off x="5994050" y="2635350"/>
              <a:ext cx="464300" cy="454300"/>
            </a:xfrm>
            <a:custGeom>
              <a:rect b="b" l="l" r="r" t="t"/>
              <a:pathLst>
                <a:path extrusionOk="0" h="18172" w="18572">
                  <a:moveTo>
                    <a:pt x="0" y="0"/>
                  </a:moveTo>
                  <a:lnTo>
                    <a:pt x="0" y="18171"/>
                  </a:lnTo>
                  <a:lnTo>
                    <a:pt x="18571" y="18171"/>
                  </a:lnTo>
                  <a:lnTo>
                    <a:pt x="185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pic>
        <p:nvPicPr>
          <p:cNvPr id="1038" name="Google Shape;103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925" y="2571750"/>
            <a:ext cx="2350048" cy="12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102"/>
          <p:cNvSpPr txBox="1"/>
          <p:nvPr/>
        </p:nvSpPr>
        <p:spPr>
          <a:xfrm>
            <a:off x="6508092" y="3396450"/>
            <a:ext cx="7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…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03"/>
          <p:cNvSpPr txBox="1"/>
          <p:nvPr>
            <p:ph idx="8" type="subTitle"/>
          </p:nvPr>
        </p:nvSpPr>
        <p:spPr>
          <a:xfrm>
            <a:off x="366750" y="2883131"/>
            <a:ext cx="51978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sometimes with a pretty structure</a:t>
            </a:r>
            <a:endParaRPr/>
          </a:p>
        </p:txBody>
      </p:sp>
      <p:sp>
        <p:nvSpPr>
          <p:cNvPr id="1045" name="Google Shape;1045;p103"/>
          <p:cNvSpPr txBox="1"/>
          <p:nvPr>
            <p:ph type="title"/>
          </p:nvPr>
        </p:nvSpPr>
        <p:spPr>
          <a:xfrm>
            <a:off x="366750" y="305494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files?</a:t>
            </a:r>
            <a:endParaRPr/>
          </a:p>
        </p:txBody>
      </p:sp>
      <p:sp>
        <p:nvSpPr>
          <p:cNvPr id="1046" name="Google Shape;1046;p103"/>
          <p:cNvSpPr txBox="1"/>
          <p:nvPr>
            <p:ph idx="8" type="subTitle"/>
          </p:nvPr>
        </p:nvSpPr>
        <p:spPr>
          <a:xfrm>
            <a:off x="366750" y="99364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data… with a header</a:t>
            </a:r>
            <a:endParaRPr/>
          </a:p>
        </p:txBody>
      </p:sp>
      <p:pic>
        <p:nvPicPr>
          <p:cNvPr id="1047" name="Google Shape;104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510306"/>
            <a:ext cx="44196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9488" y="3388406"/>
            <a:ext cx="4825025" cy="14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04"/>
          <p:cNvSpPr txBox="1"/>
          <p:nvPr>
            <p:ph type="title"/>
          </p:nvPr>
        </p:nvSpPr>
        <p:spPr>
          <a:xfrm>
            <a:off x="366750" y="305494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files?</a:t>
            </a:r>
            <a:endParaRPr/>
          </a:p>
        </p:txBody>
      </p:sp>
      <p:pic>
        <p:nvPicPr>
          <p:cNvPr id="1054" name="Google Shape;105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25" y="1001650"/>
            <a:ext cx="7162557" cy="392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05"/>
          <p:cNvSpPr txBox="1"/>
          <p:nvPr>
            <p:ph idx="6" type="subTitle"/>
          </p:nvPr>
        </p:nvSpPr>
        <p:spPr>
          <a:xfrm>
            <a:off x="4938751" y="864953"/>
            <a:ext cx="3998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headers inside other files</a:t>
            </a:r>
            <a:endParaRPr/>
          </a:p>
        </p:txBody>
      </p:sp>
      <p:sp>
        <p:nvSpPr>
          <p:cNvPr id="1060" name="Google Shape;1060;p105"/>
          <p:cNvSpPr txBox="1"/>
          <p:nvPr>
            <p:ph idx="8" type="subTitle"/>
          </p:nvPr>
        </p:nvSpPr>
        <p:spPr>
          <a:xfrm>
            <a:off x="366750" y="2539868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metadata</a:t>
            </a:r>
            <a:endParaRPr/>
          </a:p>
        </p:txBody>
      </p:sp>
      <p:sp>
        <p:nvSpPr>
          <p:cNvPr id="1061" name="Google Shape;1061;p105"/>
          <p:cNvSpPr txBox="1"/>
          <p:nvPr>
            <p:ph idx="2" type="body"/>
          </p:nvPr>
        </p:nvSpPr>
        <p:spPr>
          <a:xfrm>
            <a:off x="4938725" y="1292503"/>
            <a:ext cx="3838500" cy="13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❯ binwalk stt_logo_sus.png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              HEX                  DESCRIPTION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0                   0x0                  PNG image, total size: 11568 bytes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11568           0x2D30           PNG image, total size: 11567 bytes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Analyzed 1 file for 85 file signatures (187 magic patterns)</a:t>
            </a:r>
            <a:endParaRPr/>
          </a:p>
        </p:txBody>
      </p:sp>
      <p:sp>
        <p:nvSpPr>
          <p:cNvPr id="1062" name="Google Shape;1062;p105"/>
          <p:cNvSpPr txBox="1"/>
          <p:nvPr>
            <p:ph idx="1" type="body"/>
          </p:nvPr>
        </p:nvSpPr>
        <p:spPr>
          <a:xfrm>
            <a:off x="366725" y="1346127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❯ </a:t>
            </a:r>
            <a:r>
              <a:rPr lang="en"/>
              <a:t>file stt_logo.png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stt_logo.png: PNG image data, 1141 x 549, 8-bit/color RGBA, non-interlaced</a:t>
            </a:r>
            <a:endParaRPr/>
          </a:p>
        </p:txBody>
      </p:sp>
      <p:sp>
        <p:nvSpPr>
          <p:cNvPr id="1063" name="Google Shape;1063;p105"/>
          <p:cNvSpPr txBox="1"/>
          <p:nvPr>
            <p:ph idx="3" type="body"/>
          </p:nvPr>
        </p:nvSpPr>
        <p:spPr>
          <a:xfrm>
            <a:off x="366750" y="3021075"/>
            <a:ext cx="4395900" cy="16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❯ exiftool stt_logo_sus.png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ExifTool Version Number          : 13.58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File Name                                      : stt_logo_sus.png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Directory                                      :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File Size                                         : 23 kB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Modification Date/Time     : 2014:10:18 01:01:01+00:00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(…)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                                      : How would one even read this??</a:t>
            </a:r>
            <a:endParaRPr/>
          </a:p>
        </p:txBody>
      </p:sp>
      <p:sp>
        <p:nvSpPr>
          <p:cNvPr id="1064" name="Google Shape;1064;p105"/>
          <p:cNvSpPr txBox="1"/>
          <p:nvPr>
            <p:ph idx="4" type="body"/>
          </p:nvPr>
        </p:nvSpPr>
        <p:spPr>
          <a:xfrm>
            <a:off x="4938750" y="3021069"/>
            <a:ext cx="3838500" cy="23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❯ strings imgs.zip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stt_logo.pngUT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zWTTK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CV    :d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u{[z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SrwJ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(...)</a:t>
            </a:r>
            <a:endParaRPr sz="1200"/>
          </a:p>
        </p:txBody>
      </p:sp>
      <p:sp>
        <p:nvSpPr>
          <p:cNvPr id="1065" name="Google Shape;1065;p105"/>
          <p:cNvSpPr txBox="1"/>
          <p:nvPr>
            <p:ph type="title"/>
          </p:nvPr>
        </p:nvSpPr>
        <p:spPr>
          <a:xfrm>
            <a:off x="366750" y="171994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files? - Tools</a:t>
            </a:r>
            <a:endParaRPr/>
          </a:p>
        </p:txBody>
      </p:sp>
      <p:sp>
        <p:nvSpPr>
          <p:cNvPr id="1066" name="Google Shape;1066;p105"/>
          <p:cNvSpPr txBox="1"/>
          <p:nvPr>
            <p:ph idx="7" type="subTitle"/>
          </p:nvPr>
        </p:nvSpPr>
        <p:spPr>
          <a:xfrm>
            <a:off x="4938761" y="2539861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Strings</a:t>
            </a:r>
            <a:endParaRPr/>
          </a:p>
        </p:txBody>
      </p:sp>
      <p:sp>
        <p:nvSpPr>
          <p:cNvPr id="1067" name="Google Shape;1067;p105"/>
          <p:cNvSpPr txBox="1"/>
          <p:nvPr>
            <p:ph idx="8" type="subTitle"/>
          </p:nvPr>
        </p:nvSpPr>
        <p:spPr>
          <a:xfrm>
            <a:off x="366750" y="864921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based on the header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06"/>
          <p:cNvSpPr txBox="1"/>
          <p:nvPr>
            <p:ph idx="4" type="body"/>
          </p:nvPr>
        </p:nvSpPr>
        <p:spPr>
          <a:xfrm>
            <a:off x="2134488" y="1304025"/>
            <a:ext cx="4875000" cy="30417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❯ webpinfo stt.webp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RIFF HEADER: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  File size:  20576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Chunk VP8X at offset     12, length     18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  ICCP: 0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  Alpha: 1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  EXIF: 0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  XMP: 0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  Animation: 0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  Canvas size 600 x 420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Chunk ALPH at offset     30, length   1262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(...)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6"/>
              <a:t>No error detected.</a:t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6"/>
          </a:p>
        </p:txBody>
      </p:sp>
      <p:sp>
        <p:nvSpPr>
          <p:cNvPr id="1073" name="Google Shape;1073;p106"/>
          <p:cNvSpPr txBox="1"/>
          <p:nvPr>
            <p:ph type="title"/>
          </p:nvPr>
        </p:nvSpPr>
        <p:spPr>
          <a:xfrm>
            <a:off x="366750" y="171994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files? - Tools</a:t>
            </a:r>
            <a:endParaRPr/>
          </a:p>
        </p:txBody>
      </p:sp>
      <p:sp>
        <p:nvSpPr>
          <p:cNvPr id="1074" name="Google Shape;1074;p106"/>
          <p:cNvSpPr txBox="1"/>
          <p:nvPr>
            <p:ph idx="7" type="subTitle"/>
          </p:nvPr>
        </p:nvSpPr>
        <p:spPr>
          <a:xfrm>
            <a:off x="2134501" y="797763"/>
            <a:ext cx="4875000" cy="6111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40"/>
              <a:t>File specific</a:t>
            </a:r>
            <a:endParaRPr sz="254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07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509"/>
              <a:t>What’s Stego?</a:t>
            </a:r>
            <a:endParaRPr sz="3509"/>
          </a:p>
        </p:txBody>
      </p:sp>
      <p:pic>
        <p:nvPicPr>
          <p:cNvPr id="1080" name="Google Shape;1080;p107" title="Closed-Safe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525" y="1271888"/>
            <a:ext cx="2705724" cy="270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107"/>
          <p:cNvSpPr txBox="1"/>
          <p:nvPr/>
        </p:nvSpPr>
        <p:spPr>
          <a:xfrm>
            <a:off x="4037250" y="2324600"/>
            <a:ext cx="277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VS</a:t>
            </a:r>
            <a:endParaRPr sz="27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082" name="Google Shape;1082;p107" title="immo-wegmann-Ctul0jdYjv0-unsplash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2075" y="1206329"/>
            <a:ext cx="4265949" cy="28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7"/>
          <p:cNvSpPr txBox="1"/>
          <p:nvPr/>
        </p:nvSpPr>
        <p:spPr>
          <a:xfrm>
            <a:off x="1637550" y="4234750"/>
            <a:ext cx="144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rPr>
              <a:t>Encryption</a:t>
            </a:r>
            <a:endParaRPr sz="1800">
              <a:solidFill>
                <a:schemeClr val="dk1"/>
              </a:solidFill>
              <a:highlight>
                <a:schemeClr val="accent5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84" name="Google Shape;1084;p107"/>
          <p:cNvSpPr txBox="1"/>
          <p:nvPr/>
        </p:nvSpPr>
        <p:spPr>
          <a:xfrm>
            <a:off x="5871450" y="4234750"/>
            <a:ext cx="192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rPr>
              <a:t>Steganography</a:t>
            </a:r>
            <a:endParaRPr sz="1800">
              <a:solidFill>
                <a:schemeClr val="dk1"/>
              </a:solidFill>
              <a:highlight>
                <a:schemeClr val="accent5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08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IMAGE STEGANOGRAPHY</a:t>
            </a:r>
            <a:endParaRPr/>
          </a:p>
        </p:txBody>
      </p:sp>
      <p:sp>
        <p:nvSpPr>
          <p:cNvPr id="1090" name="Google Shape;1090;p108"/>
          <p:cNvSpPr txBox="1"/>
          <p:nvPr>
            <p:ph type="title"/>
          </p:nvPr>
        </p:nvSpPr>
        <p:spPr>
          <a:xfrm>
            <a:off x="252600" y="1279100"/>
            <a:ext cx="36090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What are images?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900"/>
          </a:p>
        </p:txBody>
      </p:sp>
      <p:pic>
        <p:nvPicPr>
          <p:cNvPr id="1091" name="Google Shape;1091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8650" y="1279100"/>
            <a:ext cx="4300475" cy="3295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108"/>
          <p:cNvSpPr txBox="1"/>
          <p:nvPr>
            <p:ph type="title"/>
          </p:nvPr>
        </p:nvSpPr>
        <p:spPr>
          <a:xfrm>
            <a:off x="252600" y="1736575"/>
            <a:ext cx="3957000" cy="16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A matrix of pixels!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/>
              <a:t>Pixels[width,height] = img.load()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/>
              <a:t>And what are pixels?</a:t>
            </a:r>
            <a:endParaRPr sz="1900"/>
          </a:p>
        </p:txBody>
      </p:sp>
      <p:sp>
        <p:nvSpPr>
          <p:cNvPr id="1093" name="Google Shape;1093;p108"/>
          <p:cNvSpPr txBox="1"/>
          <p:nvPr>
            <p:ph type="title"/>
          </p:nvPr>
        </p:nvSpPr>
        <p:spPr>
          <a:xfrm>
            <a:off x="281025" y="3400275"/>
            <a:ext cx="3957000" cy="12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Red, Green, Blue, Alpha     (0-255)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Pixels[x,y] = r,g,b,a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rPr lang="en" sz="1900"/>
              <a:t>Pixels[x,y] = r,g,b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09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IMAGE STEGANOGRAPHY</a:t>
            </a:r>
            <a:endParaRPr/>
          </a:p>
        </p:txBody>
      </p:sp>
      <p:sp>
        <p:nvSpPr>
          <p:cNvPr id="1099" name="Google Shape;1099;p109"/>
          <p:cNvSpPr txBox="1"/>
          <p:nvPr>
            <p:ph type="title"/>
          </p:nvPr>
        </p:nvSpPr>
        <p:spPr>
          <a:xfrm>
            <a:off x="411300" y="1274325"/>
            <a:ext cx="36090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rPr lang="en" sz="1900"/>
              <a:t>RGB is just one color mode! </a:t>
            </a:r>
            <a:endParaRPr sz="1900"/>
          </a:p>
        </p:txBody>
      </p:sp>
      <p:pic>
        <p:nvPicPr>
          <p:cNvPr id="1100" name="Google Shape;1100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00" y="1838866"/>
            <a:ext cx="5136300" cy="2929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3850" y="375338"/>
            <a:ext cx="3291601" cy="4392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6" name="Google Shape;1106;p110"/>
          <p:cNvGrpSpPr/>
          <p:nvPr/>
        </p:nvGrpSpPr>
        <p:grpSpPr>
          <a:xfrm>
            <a:off x="243225" y="2826700"/>
            <a:ext cx="8648233" cy="2064200"/>
            <a:chOff x="243225" y="2826700"/>
            <a:chExt cx="8648233" cy="2064200"/>
          </a:xfrm>
        </p:grpSpPr>
        <p:sp>
          <p:nvSpPr>
            <p:cNvPr id="1107" name="Google Shape;1107;p110"/>
            <p:cNvSpPr/>
            <p:nvPr/>
          </p:nvSpPr>
          <p:spPr>
            <a:xfrm>
              <a:off x="243225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08" name="Google Shape;1108;p110"/>
            <p:cNvSpPr/>
            <p:nvPr/>
          </p:nvSpPr>
          <p:spPr>
            <a:xfrm>
              <a:off x="3181192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09" name="Google Shape;1109;p110"/>
            <p:cNvSpPr/>
            <p:nvPr/>
          </p:nvSpPr>
          <p:spPr>
            <a:xfrm>
              <a:off x="6119158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10" name="Google Shape;1110;p110"/>
            <p:cNvSpPr/>
            <p:nvPr/>
          </p:nvSpPr>
          <p:spPr>
            <a:xfrm>
              <a:off x="193335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11" name="Google Shape;1111;p110"/>
            <p:cNvSpPr/>
            <p:nvPr/>
          </p:nvSpPr>
          <p:spPr>
            <a:xfrm>
              <a:off x="487140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12" name="Google Shape;1112;p110"/>
            <p:cNvSpPr/>
            <p:nvPr/>
          </p:nvSpPr>
          <p:spPr>
            <a:xfrm>
              <a:off x="7804025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113" name="Google Shape;1113;p110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Pixel[x,y] = R, G, 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= 0101101</a:t>
            </a:r>
            <a:r>
              <a:rPr lang="en">
                <a:highlight>
                  <a:srgbClr val="6AA84F"/>
                </a:highlight>
              </a:rPr>
              <a:t>1</a:t>
            </a:r>
            <a:r>
              <a:rPr lang="en"/>
              <a:t>, 001</a:t>
            </a:r>
            <a:r>
              <a:rPr lang="en"/>
              <a:t>1110</a:t>
            </a:r>
            <a:r>
              <a:rPr lang="en">
                <a:highlight>
                  <a:srgbClr val="6AA84F"/>
                </a:highlight>
              </a:rPr>
              <a:t>0</a:t>
            </a:r>
            <a:r>
              <a:rPr lang="en"/>
              <a:t>, 1011010</a:t>
            </a:r>
            <a:r>
              <a:rPr lang="en">
                <a:highlight>
                  <a:srgbClr val="6AA84F"/>
                </a:highlight>
              </a:rPr>
              <a:t>1</a:t>
            </a:r>
            <a:endParaRPr>
              <a:highlight>
                <a:srgbClr val="6AA84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/>
              <a:t>newPixel[x,y] = </a:t>
            </a:r>
            <a:r>
              <a:rPr lang="en"/>
              <a:t>R, G, B</a:t>
            </a:r>
            <a:br>
              <a:rPr lang="en"/>
            </a:br>
            <a:r>
              <a:rPr lang="en"/>
              <a:t>                  = 0101101</a:t>
            </a:r>
            <a:r>
              <a:rPr lang="en">
                <a:highlight>
                  <a:srgbClr val="FF9900"/>
                </a:highlight>
              </a:rPr>
              <a:t>0</a:t>
            </a:r>
            <a:r>
              <a:rPr lang="en"/>
              <a:t>, 0011110</a:t>
            </a:r>
            <a:r>
              <a:rPr lang="en">
                <a:highlight>
                  <a:srgbClr val="FF9900"/>
                </a:highlight>
              </a:rPr>
              <a:t>1</a:t>
            </a:r>
            <a:r>
              <a:rPr lang="en"/>
              <a:t>, 1011010</a:t>
            </a:r>
            <a:r>
              <a:rPr lang="en">
                <a:highlight>
                  <a:srgbClr val="FF9900"/>
                </a:highlight>
              </a:rPr>
              <a:t>1</a:t>
            </a:r>
            <a:endParaRPr/>
          </a:p>
        </p:txBody>
      </p:sp>
      <p:sp>
        <p:nvSpPr>
          <p:cNvPr id="1114" name="Google Shape;1114;p110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1 LSB</a:t>
            </a:r>
            <a:endParaRPr/>
          </a:p>
        </p:txBody>
      </p:sp>
      <p:sp>
        <p:nvSpPr>
          <p:cNvPr id="1115" name="Google Shape;1115;p110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Pixel[x,y] = R, G,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= 0101</a:t>
            </a:r>
            <a:r>
              <a:rPr lang="en">
                <a:highlight>
                  <a:srgbClr val="6AA84F"/>
                </a:highlight>
              </a:rPr>
              <a:t>1011</a:t>
            </a:r>
            <a:r>
              <a:rPr lang="en"/>
              <a:t>, 0011</a:t>
            </a:r>
            <a:r>
              <a:rPr lang="en">
                <a:highlight>
                  <a:srgbClr val="6AA84F"/>
                </a:highlight>
              </a:rPr>
              <a:t>1100</a:t>
            </a:r>
            <a:r>
              <a:rPr lang="en"/>
              <a:t>, 1011</a:t>
            </a:r>
            <a:r>
              <a:rPr lang="en">
                <a:highlight>
                  <a:srgbClr val="6AA84F"/>
                </a:highlight>
              </a:rPr>
              <a:t>0101</a:t>
            </a:r>
            <a:endParaRPr>
              <a:highlight>
                <a:srgbClr val="6AA84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newPixel[x,y] = R, G, B</a:t>
            </a:r>
            <a:br>
              <a:rPr lang="en"/>
            </a:br>
            <a:r>
              <a:rPr lang="en"/>
              <a:t>                  = 0101</a:t>
            </a:r>
            <a:r>
              <a:rPr lang="en">
                <a:highlight>
                  <a:srgbClr val="FF9900"/>
                </a:highlight>
              </a:rPr>
              <a:t>0010</a:t>
            </a:r>
            <a:r>
              <a:rPr lang="en"/>
              <a:t>, 0011</a:t>
            </a:r>
            <a:r>
              <a:rPr lang="en">
                <a:highlight>
                  <a:srgbClr val="FF9900"/>
                </a:highlight>
              </a:rPr>
              <a:t>1011</a:t>
            </a:r>
            <a:r>
              <a:rPr lang="en"/>
              <a:t>, 1011</a:t>
            </a:r>
            <a:r>
              <a:rPr lang="en">
                <a:highlight>
                  <a:srgbClr val="FF9900"/>
                </a:highlight>
              </a:rPr>
              <a:t>1110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116" name="Google Shape;1116;p110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4 LSB</a:t>
            </a:r>
            <a:endParaRPr/>
          </a:p>
        </p:txBody>
      </p:sp>
      <p:sp>
        <p:nvSpPr>
          <p:cNvPr id="1117" name="Google Shape;1117;p110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Pixel[x,y] = R, G,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= </a:t>
            </a:r>
            <a:r>
              <a:rPr lang="en">
                <a:highlight>
                  <a:srgbClr val="6AA84F"/>
                </a:highlight>
              </a:rPr>
              <a:t>1</a:t>
            </a:r>
            <a:r>
              <a:rPr lang="en"/>
              <a:t>1101010, </a:t>
            </a:r>
            <a:r>
              <a:rPr lang="en">
                <a:highlight>
                  <a:srgbClr val="6AA84F"/>
                </a:highlight>
              </a:rPr>
              <a:t>0</a:t>
            </a:r>
            <a:r>
              <a:rPr lang="en"/>
              <a:t>1100101, </a:t>
            </a:r>
            <a:r>
              <a:rPr lang="en">
                <a:highlight>
                  <a:srgbClr val="6AA84F"/>
                </a:highlight>
              </a:rPr>
              <a:t>1</a:t>
            </a:r>
            <a:r>
              <a:rPr lang="en"/>
              <a:t>0111011</a:t>
            </a:r>
            <a:endParaRPr>
              <a:highlight>
                <a:srgbClr val="6AA84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newPixel[x,y] = R, G, B</a:t>
            </a:r>
            <a:br>
              <a:rPr lang="en"/>
            </a:br>
            <a:r>
              <a:rPr lang="en"/>
              <a:t>                  = </a:t>
            </a:r>
            <a:r>
              <a:rPr lang="en">
                <a:highlight>
                  <a:srgbClr val="FF9900"/>
                </a:highlight>
              </a:rPr>
              <a:t>0</a:t>
            </a:r>
            <a:r>
              <a:rPr lang="en"/>
              <a:t>1101010, </a:t>
            </a:r>
            <a:r>
              <a:rPr lang="en">
                <a:highlight>
                  <a:srgbClr val="FF9900"/>
                </a:highlight>
              </a:rPr>
              <a:t>1</a:t>
            </a:r>
            <a:r>
              <a:rPr lang="en"/>
              <a:t>1100101, </a:t>
            </a:r>
            <a:r>
              <a:rPr lang="en">
                <a:highlight>
                  <a:srgbClr val="FF9900"/>
                </a:highlight>
              </a:rPr>
              <a:t>1</a:t>
            </a:r>
            <a:r>
              <a:rPr lang="en"/>
              <a:t>0111011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118" name="Google Shape;1118;p110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1 MSB</a:t>
            </a:r>
            <a:endParaRPr/>
          </a:p>
        </p:txBody>
      </p:sp>
      <p:sp>
        <p:nvSpPr>
          <p:cNvPr id="1119" name="Google Shape;1119;p110"/>
          <p:cNvSpPr txBox="1"/>
          <p:nvPr>
            <p:ph idx="4" type="title"/>
          </p:nvPr>
        </p:nvSpPr>
        <p:spPr>
          <a:xfrm>
            <a:off x="252600" y="522925"/>
            <a:ext cx="85479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IMAGE STEGANOGRAPHY</a:t>
            </a:r>
            <a:endParaRPr/>
          </a:p>
        </p:txBody>
      </p:sp>
      <p:sp>
        <p:nvSpPr>
          <p:cNvPr id="1120" name="Google Shape;1120;p110"/>
          <p:cNvSpPr txBox="1"/>
          <p:nvPr>
            <p:ph type="title"/>
          </p:nvPr>
        </p:nvSpPr>
        <p:spPr>
          <a:xfrm>
            <a:off x="252600" y="1279100"/>
            <a:ext cx="36090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MSB &amp; LSB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Tools: zsteg, stegsolve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t/>
            </a:r>
            <a:endParaRPr sz="1900"/>
          </a:p>
        </p:txBody>
      </p:sp>
      <p:pic>
        <p:nvPicPr>
          <p:cNvPr id="1121" name="Google Shape;1121;p110" title="im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25" y="3897525"/>
            <a:ext cx="1205226" cy="9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110" title="im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0463" y="3897525"/>
            <a:ext cx="1205226" cy="9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110" title="im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3125" y="3897525"/>
            <a:ext cx="1205226" cy="9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110" title="chall_lsb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600" y="3897525"/>
            <a:ext cx="1205224" cy="903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110" title="chall_lsb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600" y="3897525"/>
            <a:ext cx="1205224" cy="903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110" title="chall_msb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00" y="3897525"/>
            <a:ext cx="1205224" cy="903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110" title="chall_lsb1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63200" y="3897532"/>
            <a:ext cx="1205224" cy="90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110" title="chall_lsb4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6925" y="3897531"/>
            <a:ext cx="1205224" cy="90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11"/>
          <p:cNvSpPr txBox="1"/>
          <p:nvPr>
            <p:ph idx="4" type="title"/>
          </p:nvPr>
        </p:nvSpPr>
        <p:spPr>
          <a:xfrm>
            <a:off x="252600" y="522925"/>
            <a:ext cx="85479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IMAGE STEGANOGRAPHY</a:t>
            </a:r>
            <a:endParaRPr/>
          </a:p>
        </p:txBody>
      </p:sp>
      <p:pic>
        <p:nvPicPr>
          <p:cNvPr id="1134" name="Google Shape;1134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1050" y="1359625"/>
            <a:ext cx="3162150" cy="31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111"/>
          <p:cNvSpPr txBox="1"/>
          <p:nvPr>
            <p:ph type="title"/>
          </p:nvPr>
        </p:nvSpPr>
        <p:spPr>
          <a:xfrm>
            <a:off x="252600" y="1359625"/>
            <a:ext cx="4367700" cy="15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Bit planes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R, G, B = </a:t>
            </a:r>
            <a:r>
              <a:rPr lang="en" sz="1900"/>
              <a:t>Pixel[x,y]</a:t>
            </a:r>
            <a:br>
              <a:rPr lang="en" sz="1900"/>
            </a:br>
            <a:r>
              <a:rPr lang="en" sz="1900"/>
              <a:t>newPixel[x,y] = R[7]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rPr lang="en" sz="1900"/>
              <a:t>(fill the pixel when Red’s 7th bit == 1)</a:t>
            </a:r>
            <a:endParaRPr sz="1900"/>
          </a:p>
        </p:txBody>
      </p:sp>
      <p:sp>
        <p:nvSpPr>
          <p:cNvPr id="1136" name="Google Shape;1136;p111"/>
          <p:cNvSpPr txBox="1"/>
          <p:nvPr/>
        </p:nvSpPr>
        <p:spPr>
          <a:xfrm>
            <a:off x="1516350" y="3604175"/>
            <a:ext cx="184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Space Grotesk"/>
                <a:ea typeface="Space Grotesk"/>
                <a:cs typeface="Space Grotesk"/>
                <a:sym typeface="Space Grotesk"/>
              </a:rPr>
              <a:t>use StegSolve!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12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AUDIO STEGANOGRAPHY</a:t>
            </a:r>
            <a:endParaRPr/>
          </a:p>
        </p:txBody>
      </p:sp>
      <p:sp>
        <p:nvSpPr>
          <p:cNvPr id="1142" name="Google Shape;1142;p112"/>
          <p:cNvSpPr txBox="1"/>
          <p:nvPr>
            <p:ph type="title"/>
          </p:nvPr>
        </p:nvSpPr>
        <p:spPr>
          <a:xfrm>
            <a:off x="252600" y="1279100"/>
            <a:ext cx="36090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What are audios?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t/>
            </a:r>
            <a:endParaRPr sz="1900"/>
          </a:p>
        </p:txBody>
      </p:sp>
      <p:sp>
        <p:nvSpPr>
          <p:cNvPr id="1143" name="Google Shape;1143;p112"/>
          <p:cNvSpPr txBox="1"/>
          <p:nvPr>
            <p:ph type="title"/>
          </p:nvPr>
        </p:nvSpPr>
        <p:spPr>
          <a:xfrm>
            <a:off x="252600" y="1706575"/>
            <a:ext cx="4691400" cy="16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A sequence of amplitude samples!</a:t>
            </a:r>
            <a:br>
              <a:rPr lang="en" sz="1900"/>
            </a:br>
            <a:br>
              <a:rPr lang="en" sz="1900"/>
            </a:br>
            <a:r>
              <a:rPr lang="en" sz="1900"/>
              <a:t>s</a:t>
            </a:r>
            <a:r>
              <a:rPr lang="en" sz="1900"/>
              <a:t>amples[freq*time] = amplitude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t/>
            </a:r>
            <a:endParaRPr sz="1900"/>
          </a:p>
        </p:txBody>
      </p:sp>
      <p:sp>
        <p:nvSpPr>
          <p:cNvPr id="1144" name="Google Shape;1144;p112"/>
          <p:cNvSpPr txBox="1"/>
          <p:nvPr>
            <p:ph type="title"/>
          </p:nvPr>
        </p:nvSpPr>
        <p:spPr>
          <a:xfrm>
            <a:off x="252600" y="3221825"/>
            <a:ext cx="4872300" cy="16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A file with 44.1khz contains 44100 samples per second!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a</a:t>
            </a:r>
            <a:r>
              <a:rPr lang="en" sz="1900"/>
              <a:t>mp_after_2s = samples[44100*2]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t/>
            </a:r>
            <a:endParaRPr sz="1900"/>
          </a:p>
        </p:txBody>
      </p:sp>
      <p:pic>
        <p:nvPicPr>
          <p:cNvPr id="1145" name="Google Shape;1145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600" y="1796300"/>
            <a:ext cx="3189700" cy="301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7600" y="127033"/>
            <a:ext cx="3189699" cy="1669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4813" y="1574850"/>
            <a:ext cx="541956" cy="2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112"/>
          <p:cNvSpPr txBox="1"/>
          <p:nvPr>
            <p:ph type="title"/>
          </p:nvPr>
        </p:nvSpPr>
        <p:spPr>
          <a:xfrm>
            <a:off x="252600" y="3093455"/>
            <a:ext cx="46914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rPr lang="en" sz="1900">
                <a:highlight>
                  <a:srgbClr val="FFFF00"/>
                </a:highlight>
              </a:rPr>
              <a:t>Frequency = n_samples/second</a:t>
            </a:r>
            <a:endParaRPr sz="190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13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AUDIO STEGANOGRAPHY</a:t>
            </a:r>
            <a:endParaRPr/>
          </a:p>
        </p:txBody>
      </p:sp>
      <p:sp>
        <p:nvSpPr>
          <p:cNvPr id="1154" name="Google Shape;1154;p113"/>
          <p:cNvSpPr txBox="1"/>
          <p:nvPr>
            <p:ph type="title"/>
          </p:nvPr>
        </p:nvSpPr>
        <p:spPr>
          <a:xfrm>
            <a:off x="252600" y="1279100"/>
            <a:ext cx="3609000" cy="19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Data sequences can be visualised!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x=index, y=value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 sz="1900"/>
              <a:t>And much more ways…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br>
              <a:rPr lang="en" sz="1900"/>
            </a:br>
            <a:r>
              <a:rPr lang="en" sz="1900"/>
              <a:t>Visualise: Sonic Visualiser</a:t>
            </a:r>
            <a:br>
              <a:rPr lang="en" sz="1900"/>
            </a:br>
            <a:r>
              <a:rPr lang="en" sz="1900"/>
              <a:t>Edit: Audacity</a:t>
            </a:r>
            <a:endParaRPr sz="1900"/>
          </a:p>
        </p:txBody>
      </p:sp>
      <p:pic>
        <p:nvPicPr>
          <p:cNvPr id="1155" name="Google Shape;1155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350" y="1059524"/>
            <a:ext cx="2979723" cy="3519273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113"/>
          <p:cNvSpPr txBox="1"/>
          <p:nvPr/>
        </p:nvSpPr>
        <p:spPr>
          <a:xfrm>
            <a:off x="5213100" y="4543375"/>
            <a:ext cx="27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normal rickroll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14"/>
          <p:cNvSpPr txBox="1"/>
          <p:nvPr>
            <p:ph type="title"/>
          </p:nvPr>
        </p:nvSpPr>
        <p:spPr>
          <a:xfrm>
            <a:off x="366750" y="305494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Steganography</a:t>
            </a:r>
            <a:endParaRPr/>
          </a:p>
        </p:txBody>
      </p:sp>
      <p:sp>
        <p:nvSpPr>
          <p:cNvPr id="1162" name="Google Shape;1162;p114"/>
          <p:cNvSpPr txBox="1"/>
          <p:nvPr/>
        </p:nvSpPr>
        <p:spPr>
          <a:xfrm>
            <a:off x="1864500" y="992425"/>
            <a:ext cx="541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Sometimes it’s all about a random tool….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163" name="Google Shape;1163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675" y="1599475"/>
            <a:ext cx="5318650" cy="26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0900" y="2525311"/>
            <a:ext cx="2841199" cy="20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