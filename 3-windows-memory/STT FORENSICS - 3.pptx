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Space Grotesk Light"/>
      <p:regular r:id="rId29"/>
      <p:bold r:id="rId30"/>
    </p:embeddedFont>
    <p:embeddedFont>
      <p:font typeface="Space Grotesk Medium"/>
      <p:regular r:id="rId31"/>
      <p:bold r:id="rId32"/>
    </p:embeddedFont>
    <p:embeddedFont>
      <p:font typeface="Space Grotesk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ndré Cadet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paceGroteskLight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paceGroteskMedium-regular.fntdata"/><Relationship Id="rId30" Type="http://schemas.openxmlformats.org/officeDocument/2006/relationships/font" Target="fonts/SpaceGroteskLight-bold.fntdata"/><Relationship Id="rId11" Type="http://schemas.openxmlformats.org/officeDocument/2006/relationships/slide" Target="slides/slide4.xml"/><Relationship Id="rId33" Type="http://schemas.openxmlformats.org/officeDocument/2006/relationships/font" Target="fonts/SpaceGrotesk-regular.fntdata"/><Relationship Id="rId10" Type="http://schemas.openxmlformats.org/officeDocument/2006/relationships/slide" Target="slides/slide3.xml"/><Relationship Id="rId32" Type="http://schemas.openxmlformats.org/officeDocument/2006/relationships/font" Target="fonts/SpaceGroteskMedium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31T21:00:31.186">
    <p:pos x="426" y="930"/>
    <p:text>docker run --rm -it -v "$(pwd):/data:z" -w /data blacktop/volatility --plugins=./ -f ./mem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5c383b208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e5c383b208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5c383b208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5c383b208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5c383b208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e5c383b208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5c383b208_0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e5c383b208_0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5c383b208_0_1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e5c383b208_0_1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5c383b208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e5c383b208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5c383b208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e5c383b208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5c383b20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e5c383b20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5c383b208_0_1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5c383b208_0_1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e5c383b208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e5c383b208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e5c383b208_0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e5c383b208_0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e5c383b208_0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e5c383b208_0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5c383b208_0_1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e5c383b208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e5c383b208_0_1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e5c383b208_0_1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5c383b208_0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e5c383b208_0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5c383b208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e5c383b208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5c68461f4_2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e5c68461f4_2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e5e8a5de4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e5e8a5de4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5e8a5de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e5e8a5de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e5ea63c27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e5ea63c27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5e8a5de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5e8a5de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60" name="Google Shape;60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8" name="Google Shape;68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6" name="Google Shape;76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00" name="Google Shape;10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4" name="Google Shape;104;p16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2" name="Google Shape;112;p1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15" name="Google Shape;11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3" name="Google Shape;123;p17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26" name="Google Shape;12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" name="Google Shape;130;p18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" name="Google Shape;136;p1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37" name="Google Shape;13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4" name="Google Shape;144;p1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50" name="Google Shape;150;p19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0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2" name="Google Shape;162;p20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64" name="Google Shape;164;p2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5" name="Google Shape;165;p20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69" name="Google Shape;169;p21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1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1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5" name="Google Shape;175;p21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79" name="Google Shape;179;p2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80" name="Google Shape;180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88" name="Google Shape;188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96" name="Google Shape;196;p2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4" name="Google Shape;204;p2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6" name="Google Shape;206;p2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07" name="Google Shape;20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15" name="Google Shape;215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23" name="Google Shape;223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6" name="Google Shape;226;p22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7" name="Google Shape;227;p22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8" name="Google Shape;228;p22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2" name="Google Shape;242;p24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3" name="Google Shape;243;p24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4" name="Google Shape;244;p24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5" name="Google Shape;245;p24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9" name="Google Shape;249;p24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24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64" name="Google Shape;264;p2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65" name="Google Shape;265;p2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01" name="Google Shape;30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03" name="Google Shape;303;p26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11" name="Google Shape;311;p27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13" name="Google Shape;313;p27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17" name="Google Shape;317;p27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7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24" name="Google Shape;324;p2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25" name="Google Shape;32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 rotWithShape="1">
          <a:blip r:embed="rId2">
            <a:alphaModFix/>
          </a:blip>
          <a:srcRect b="48372" l="72419" r="0" t="25662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4" name="Google Shape;334;p29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36" name="Google Shape;336;p29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8" name="Google Shape;338;p29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1" name="Google Shape;341;p29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3" name="Google Shape;343;p29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5" name="Google Shape;345;p29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7" name="Google Shape;347;p29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51" name="Google Shape;35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55" name="Google Shape;35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58" name="Google Shape;358;p3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59" name="Google Shape;35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61" name="Google Shape;361;p3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62" name="Google Shape;36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5" name="Google Shape;365;p30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6" name="Google Shape;366;p30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7" name="Google Shape;367;p30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8" name="Google Shape;368;p30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74" name="Google Shape;37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78" name="Google Shape;378;p31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79" name="Google Shape;379;p3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b="0" l="6522" r="6522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b="0" l="6522" r="6522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/>
          <p:cNvPicPr preferRelativeResize="0"/>
          <p:nvPr/>
        </p:nvPicPr>
        <p:blipFill rotWithShape="1">
          <a:blip r:embed="rId4">
            <a:alphaModFix/>
          </a:blip>
          <a:srcRect b="0" l="6522" r="6522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/>
          <p:cNvPicPr preferRelativeResize="0"/>
          <p:nvPr/>
        </p:nvPicPr>
        <p:blipFill rotWithShape="1">
          <a:blip r:embed="rId4">
            <a:alphaModFix/>
          </a:blip>
          <a:srcRect b="0" l="6522" r="6522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6522" r="6522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3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90" name="Google Shape;390;p3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3" name="Google Shape;41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" name="Google Shape;424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8" name="Google Shape;428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2" name="Google Shape;442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8" name="Google Shape;448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4" name="Google Shape;45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7" name="Google Shape;45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7" name="Google Shape;467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2" name="Google Shape;47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5" name="Google Shape;47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1" name="Google Shape;481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riczimmerman.github.io/" TargetMode="External"/><Relationship Id="rId4" Type="http://schemas.openxmlformats.org/officeDocument/2006/relationships/hyperlink" Target="https://github.com/andyjsmith/Registry-Spy" TargetMode="External"/><Relationship Id="rId5" Type="http://schemas.openxmlformats.org/officeDocument/2006/relationships/image" Target="../media/image21.gif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ultimatewindowssecurity.com/securitylog/encyclopedia/default.aspx" TargetMode="External"/><Relationship Id="rId4" Type="http://schemas.openxmlformats.org/officeDocument/2006/relationships/hyperlink" Target="https://github.com/omerbenamram/evtx" TargetMode="External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hyperlink" Target="https://ericzimmerman.github.io/" TargetMode="External"/><Relationship Id="rId6" Type="http://schemas.openxmlformats.org/officeDocument/2006/relationships/hyperlink" Target="https://www.nirsoft.net/" TargetMode="External"/><Relationship Id="rId7" Type="http://schemas.openxmlformats.org/officeDocument/2006/relationships/hyperlink" Target="https://www.sans.org/tool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.xml"/><Relationship Id="rId4" Type="http://schemas.openxmlformats.org/officeDocument/2006/relationships/hyperlink" Target="https://github.com/volatilityfoundation/volatility" TargetMode="External"/><Relationship Id="rId5" Type="http://schemas.openxmlformats.org/officeDocument/2006/relationships/hyperlink" Target="https://github.com/volatilityfoundation/volatility3" TargetMode="External"/><Relationship Id="rId6" Type="http://schemas.openxmlformats.org/officeDocument/2006/relationships/hyperlink" Target="https://github.com/ufrisk/memprocf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byss-W4tcher/volatility3-symbols" TargetMode="External"/><Relationship Id="rId4" Type="http://schemas.openxmlformats.org/officeDocument/2006/relationships/hyperlink" Target="https://github.com/volatilityfoundation/dwarf2jso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ny.run/" TargetMode="External"/><Relationship Id="rId4" Type="http://schemas.openxmlformats.org/officeDocument/2006/relationships/hyperlink" Target="https://tria.ge" TargetMode="External"/><Relationship Id="rId5" Type="http://schemas.openxmlformats.org/officeDocument/2006/relationships/hyperlink" Target="https://www.joesandbox.com/" TargetMode="External"/><Relationship Id="rId6" Type="http://schemas.openxmlformats.org/officeDocument/2006/relationships/hyperlink" Target="https://sandbox.pikker.ee/" TargetMode="External"/><Relationship Id="rId7" Type="http://schemas.openxmlformats.org/officeDocument/2006/relationships/hyperlink" Target="https://learn.microsoft.com/en-us/sysinternals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mesquidar/ForensicsTools" TargetMode="External"/><Relationship Id="rId4" Type="http://schemas.openxmlformats.org/officeDocument/2006/relationships/hyperlink" Target="https://github.com/cugu/awesome-forens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idx="4" type="title"/>
          </p:nvPr>
        </p:nvSpPr>
        <p:spPr>
          <a:xfrm>
            <a:off x="699975" y="734275"/>
            <a:ext cx="59436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FORENSICS</a:t>
            </a:r>
            <a:endParaRPr/>
          </a:p>
        </p:txBody>
      </p:sp>
      <p:sp>
        <p:nvSpPr>
          <p:cNvPr id="502" name="Google Shape;502;p53"/>
          <p:cNvSpPr txBox="1"/>
          <p:nvPr>
            <p:ph type="title"/>
          </p:nvPr>
        </p:nvSpPr>
        <p:spPr>
          <a:xfrm>
            <a:off x="699986" y="1615235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3 - Windows, Memory</a:t>
            </a:r>
            <a:endParaRPr/>
          </a:p>
        </p:txBody>
      </p:sp>
      <p:pic>
        <p:nvPicPr>
          <p:cNvPr id="503" name="Google Shape;50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121" y="3888066"/>
            <a:ext cx="398545" cy="3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3"/>
          <p:cNvSpPr txBox="1"/>
          <p:nvPr/>
        </p:nvSpPr>
        <p:spPr>
          <a:xfrm>
            <a:off x="7088825" y="4215925"/>
            <a:ext cx="889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!! nos4a2</a:t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@sluzypt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05" name="Google Shape;50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950" y="4021575"/>
            <a:ext cx="966401" cy="4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3"/>
          <p:cNvSpPr txBox="1"/>
          <p:nvPr/>
        </p:nvSpPr>
        <p:spPr>
          <a:xfrm>
            <a:off x="7978025" y="4215925"/>
            <a:ext cx="107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AFSC19.EXE @afsc19</a:t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4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ROAD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512" name="Google Shape;512;p54"/>
          <p:cNvSpPr txBox="1"/>
          <p:nvPr>
            <p:ph idx="1" type="subTitle"/>
          </p:nvPr>
        </p:nvSpPr>
        <p:spPr>
          <a:xfrm>
            <a:off x="5609450" y="2085150"/>
            <a:ext cx="2838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trike="sngStrike"/>
              <a:t>2. Disks, registries, network</a:t>
            </a:r>
            <a:endParaRPr strike="sngStrike"/>
          </a:p>
        </p:txBody>
      </p:sp>
      <p:sp>
        <p:nvSpPr>
          <p:cNvPr id="513" name="Google Shape;513;p54"/>
          <p:cNvSpPr txBox="1"/>
          <p:nvPr>
            <p:ph idx="3" type="subTitle"/>
          </p:nvPr>
        </p:nvSpPr>
        <p:spPr>
          <a:xfrm>
            <a:off x="5609450" y="1578450"/>
            <a:ext cx="30360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trike="sngStrike"/>
              <a:t>1. Foundations</a:t>
            </a:r>
            <a:endParaRPr strike="sngStrike"/>
          </a:p>
        </p:txBody>
      </p:sp>
      <p:sp>
        <p:nvSpPr>
          <p:cNvPr id="514" name="Google Shape;514;p54"/>
          <p:cNvSpPr txBox="1"/>
          <p:nvPr>
            <p:ph idx="2" type="subTitle"/>
          </p:nvPr>
        </p:nvSpPr>
        <p:spPr>
          <a:xfrm>
            <a:off x="5609451" y="25918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3. Windows, memory</a:t>
            </a:r>
            <a:endParaRPr/>
          </a:p>
        </p:txBody>
      </p:sp>
      <p:sp>
        <p:nvSpPr>
          <p:cNvPr id="515" name="Google Shape;515;p54"/>
          <p:cNvSpPr txBox="1"/>
          <p:nvPr>
            <p:ph idx="2" type="subTitle"/>
          </p:nvPr>
        </p:nvSpPr>
        <p:spPr>
          <a:xfrm>
            <a:off x="5609451" y="30784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4. ???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</a:t>
            </a:r>
            <a:endParaRPr/>
          </a:p>
        </p:txBody>
      </p:sp>
      <p:pic>
        <p:nvPicPr>
          <p:cNvPr id="521" name="Google Shape;52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975" y="1227200"/>
            <a:ext cx="6112051" cy="34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- Stores (almost) everything!</a:t>
            </a:r>
            <a:endParaRPr/>
          </a:p>
        </p:txBody>
      </p:sp>
      <p:pic>
        <p:nvPicPr>
          <p:cNvPr id="527" name="Google Shape;5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22" y="2571752"/>
            <a:ext cx="1538307" cy="153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6"/>
          <p:cNvSpPr txBox="1"/>
          <p:nvPr/>
        </p:nvSpPr>
        <p:spPr>
          <a:xfrm>
            <a:off x="366750" y="4086577"/>
            <a:ext cx="17043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6725" lIns="56725" spcFirstLastPara="1" rIns="56725" wrap="square" tIns="56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7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Registry</a:t>
            </a:r>
            <a:endParaRPr sz="1117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29" name="Google Shape;52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1833" y="2812825"/>
            <a:ext cx="1531059" cy="153105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6"/>
          <p:cNvSpPr txBox="1"/>
          <p:nvPr/>
        </p:nvSpPr>
        <p:spPr>
          <a:xfrm>
            <a:off x="3685200" y="4257557"/>
            <a:ext cx="1724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400" lIns="57400" spcFirstLastPara="1" rIns="57400" wrap="square" tIns="57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Prefetch</a:t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31" name="Google Shape;531;p56" title="s0jva5mt3edpdcegfpi50au4dn-d071f23f6e908a2f7f56552fbb74914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6997" y="1460651"/>
            <a:ext cx="1530995" cy="153099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6"/>
          <p:cNvSpPr txBox="1"/>
          <p:nvPr/>
        </p:nvSpPr>
        <p:spPr>
          <a:xfrm>
            <a:off x="2150300" y="2970024"/>
            <a:ext cx="17244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425" lIns="57425" spcFirstLastPara="1" rIns="57425" wrap="square" tIns="5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Logs</a:t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33" name="Google Shape;53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2125" y="1579975"/>
            <a:ext cx="1641625" cy="139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6"/>
          <p:cNvSpPr txBox="1"/>
          <p:nvPr/>
        </p:nvSpPr>
        <p:spPr>
          <a:xfrm>
            <a:off x="5620738" y="2991657"/>
            <a:ext cx="1724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400" lIns="57400" spcFirstLastPara="1" rIns="57400" wrap="square" tIns="57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MFT</a:t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5" name="Google Shape;535;p56"/>
          <p:cNvSpPr txBox="1"/>
          <p:nvPr/>
        </p:nvSpPr>
        <p:spPr>
          <a:xfrm>
            <a:off x="7608875" y="3623950"/>
            <a:ext cx="75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</a:t>
            </a:r>
            <a:endParaRPr sz="4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Locations</a:t>
            </a:r>
            <a:endParaRPr/>
          </a:p>
        </p:txBody>
      </p:sp>
      <p:pic>
        <p:nvPicPr>
          <p:cNvPr id="541" name="Google Shape;54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950" y="1208125"/>
            <a:ext cx="5486754" cy="3630574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7"/>
          <p:cNvSpPr txBox="1"/>
          <p:nvPr/>
        </p:nvSpPr>
        <p:spPr>
          <a:xfrm>
            <a:off x="143025" y="3327700"/>
            <a:ext cx="27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C:\Windows\System32\config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3" name="Google Shape;543;p57"/>
          <p:cNvSpPr/>
          <p:nvPr/>
        </p:nvSpPr>
        <p:spPr>
          <a:xfrm>
            <a:off x="2998725" y="2030950"/>
            <a:ext cx="419550" cy="2808025"/>
          </a:xfrm>
          <a:custGeom>
            <a:rect b="b" l="l" r="r" t="t"/>
            <a:pathLst>
              <a:path extrusionOk="0" h="112321" w="16782">
                <a:moveTo>
                  <a:pt x="14875" y="0"/>
                </a:moveTo>
                <a:cubicBezTo>
                  <a:pt x="155" y="0"/>
                  <a:pt x="11354" y="29230"/>
                  <a:pt x="9726" y="43860"/>
                </a:cubicBezTo>
                <a:cubicBezTo>
                  <a:pt x="9171" y="48846"/>
                  <a:pt x="10447" y="54721"/>
                  <a:pt x="7438" y="58735"/>
                </a:cubicBezTo>
                <a:cubicBezTo>
                  <a:pt x="5882" y="60811"/>
                  <a:pt x="0" y="58429"/>
                  <a:pt x="0" y="61023"/>
                </a:cubicBezTo>
                <a:cubicBezTo>
                  <a:pt x="0" y="62876"/>
                  <a:pt x="3795" y="60944"/>
                  <a:pt x="5531" y="61595"/>
                </a:cubicBezTo>
                <a:cubicBezTo>
                  <a:pt x="7960" y="62505"/>
                  <a:pt x="9822" y="65310"/>
                  <a:pt x="10107" y="67888"/>
                </a:cubicBezTo>
                <a:cubicBezTo>
                  <a:pt x="11755" y="82774"/>
                  <a:pt x="6192" y="101731"/>
                  <a:pt x="16782" y="112321"/>
                </a:cubicBezTo>
              </a:path>
            </a:pathLst>
          </a:cu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4" name="Google Shape;544;p57"/>
          <p:cNvSpPr txBox="1"/>
          <p:nvPr/>
        </p:nvSpPr>
        <p:spPr>
          <a:xfrm>
            <a:off x="228675" y="1368100"/>
            <a:ext cx="27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C:\Users\&lt;user&gt;\NTUSER.dat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Execution evidence</a:t>
            </a:r>
            <a:endParaRPr/>
          </a:p>
        </p:txBody>
      </p:sp>
      <p:sp>
        <p:nvSpPr>
          <p:cNvPr id="550" name="Google Shape;550;p58"/>
          <p:cNvSpPr txBox="1"/>
          <p:nvPr/>
        </p:nvSpPr>
        <p:spPr>
          <a:xfrm>
            <a:off x="471975" y="1277675"/>
            <a:ext cx="82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UserAssist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HKCU</a:t>
            </a: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\Software\Microsoft\Windows\CurrentVersion\Explorer\UserAssist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51" name="Google Shape;55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275" y="3205013"/>
            <a:ext cx="3709250" cy="165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700" y="2876875"/>
            <a:ext cx="2884475" cy="21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8"/>
          <p:cNvSpPr txBox="1"/>
          <p:nvPr/>
        </p:nvSpPr>
        <p:spPr>
          <a:xfrm>
            <a:off x="471975" y="1933225"/>
            <a:ext cx="82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RunMRU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HKCU\Software\Microsoft\Windows\CurrentVersion\Explorer\RunMRU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User activity</a:t>
            </a:r>
            <a:endParaRPr/>
          </a:p>
        </p:txBody>
      </p:sp>
      <p:sp>
        <p:nvSpPr>
          <p:cNvPr id="559" name="Google Shape;559;p59"/>
          <p:cNvSpPr txBox="1"/>
          <p:nvPr/>
        </p:nvSpPr>
        <p:spPr>
          <a:xfrm>
            <a:off x="471975" y="1277675"/>
            <a:ext cx="82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Shellbags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HKCU\Software\Microsoft\Windows\Shell\Bags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0" name="Google Shape;560;p59"/>
          <p:cNvSpPr txBox="1"/>
          <p:nvPr/>
        </p:nvSpPr>
        <p:spPr>
          <a:xfrm>
            <a:off x="471975" y="1933225"/>
            <a:ext cx="82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Typed paths (in Windows Explorer)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HKCU</a:t>
            </a: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\Software\Microsoft\Windows\CurrentVersion\Explorer\TypedPaths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61" name="Google Shape;56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00" y="2726875"/>
            <a:ext cx="3906621" cy="21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9"/>
          <p:cNvPicPr preferRelativeResize="0"/>
          <p:nvPr/>
        </p:nvPicPr>
        <p:blipFill rotWithShape="1">
          <a:blip r:embed="rId4">
            <a:alphaModFix/>
          </a:blip>
          <a:srcRect b="0" l="0" r="39632" t="0"/>
          <a:stretch/>
        </p:blipFill>
        <p:spPr>
          <a:xfrm>
            <a:off x="5005725" y="3188050"/>
            <a:ext cx="3137125" cy="14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Startup programs</a:t>
            </a:r>
            <a:endParaRPr/>
          </a:p>
        </p:txBody>
      </p:sp>
      <p:sp>
        <p:nvSpPr>
          <p:cNvPr id="568" name="Google Shape;568;p60"/>
          <p:cNvSpPr txBox="1"/>
          <p:nvPr/>
        </p:nvSpPr>
        <p:spPr>
          <a:xfrm>
            <a:off x="471975" y="1277675"/>
            <a:ext cx="82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Run/RunOnce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HKLM\Software\Microsoft\Windows\CurrentVersion\Run[Once]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9" name="Google Shape;569;p60"/>
          <p:cNvSpPr txBox="1"/>
          <p:nvPr/>
        </p:nvSpPr>
        <p:spPr>
          <a:xfrm>
            <a:off x="471975" y="1933225"/>
            <a:ext cx="82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Services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HKLM\SYSTEM\CurrentControlSet\Services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70" name="Google Shape;570;p60"/>
          <p:cNvPicPr preferRelativeResize="0"/>
          <p:nvPr/>
        </p:nvPicPr>
        <p:blipFill rotWithShape="1">
          <a:blip r:embed="rId3">
            <a:alphaModFix/>
          </a:blip>
          <a:srcRect b="19722" l="0" r="-2617" t="8901"/>
          <a:stretch/>
        </p:blipFill>
        <p:spPr>
          <a:xfrm>
            <a:off x="500425" y="2731750"/>
            <a:ext cx="4502500" cy="20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5675" y="2503075"/>
            <a:ext cx="3331204" cy="219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Other informations</a:t>
            </a:r>
            <a:endParaRPr/>
          </a:p>
        </p:txBody>
      </p:sp>
      <p:sp>
        <p:nvSpPr>
          <p:cNvPr id="577" name="Google Shape;577;p61"/>
          <p:cNvSpPr txBox="1"/>
          <p:nvPr/>
        </p:nvSpPr>
        <p:spPr>
          <a:xfrm>
            <a:off x="471975" y="1277675"/>
            <a:ext cx="8233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USB &amp; External Device History (USBSTOR)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Configuration &amp; History (NetworkList)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Mounted Devices (MountedDevices)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Windows Time Zone Information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 Policy Settings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Information &amp; OS Versioning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Computer Name &amp; Domain Membership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Background Activity Moderator (BAM/DAM)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8" name="Google Shape;578;p61"/>
          <p:cNvSpPr txBox="1"/>
          <p:nvPr/>
        </p:nvSpPr>
        <p:spPr>
          <a:xfrm>
            <a:off x="3198900" y="3961777"/>
            <a:ext cx="27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And so on ….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Other informations</a:t>
            </a:r>
            <a:endParaRPr/>
          </a:p>
        </p:txBody>
      </p:sp>
      <p:pic>
        <p:nvPicPr>
          <p:cNvPr id="584" name="Google Shape;584;p62" title="shrek_and_so_on_and_so_forth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63" y="1566936"/>
            <a:ext cx="4736875" cy="266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Registry - Tools</a:t>
            </a:r>
            <a:endParaRPr/>
          </a:p>
        </p:txBody>
      </p:sp>
      <p:sp>
        <p:nvSpPr>
          <p:cNvPr id="590" name="Google Shape;590;p63"/>
          <p:cNvSpPr txBox="1"/>
          <p:nvPr/>
        </p:nvSpPr>
        <p:spPr>
          <a:xfrm>
            <a:off x="471975" y="1277675"/>
            <a:ext cx="823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Registry Explorer (Windows - </a:t>
            </a:r>
            <a:r>
              <a:rPr lang="en" sz="18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Eric Zimmerman’s Tools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8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Registry-Spy</a:t>
            </a:r>
            <a:endParaRPr sz="18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91" name="Google Shape;591;p63" title="Registry-Explorer-Left-Pane-Scroll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475" y="2526750"/>
            <a:ext cx="3606001" cy="214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3"/>
          <p:cNvPicPr preferRelativeResize="0"/>
          <p:nvPr/>
        </p:nvPicPr>
        <p:blipFill rotWithShape="1">
          <a:blip r:embed="rId6">
            <a:alphaModFix/>
          </a:blip>
          <a:srcRect b="4370" l="0" r="0" t="0"/>
          <a:stretch/>
        </p:blipFill>
        <p:spPr>
          <a:xfrm>
            <a:off x="4972475" y="2364200"/>
            <a:ext cx="3319250" cy="2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</a:t>
            </a:r>
            <a:r>
              <a:rPr lang="en"/>
              <a:t> </a:t>
            </a:r>
            <a:r>
              <a:rPr lang="en"/>
              <a:t>Event Logs</a:t>
            </a:r>
            <a:endParaRPr/>
          </a:p>
        </p:txBody>
      </p:sp>
      <p:sp>
        <p:nvSpPr>
          <p:cNvPr id="598" name="Google Shape;598;p64"/>
          <p:cNvSpPr txBox="1"/>
          <p:nvPr/>
        </p:nvSpPr>
        <p:spPr>
          <a:xfrm>
            <a:off x="471975" y="1182326"/>
            <a:ext cx="8233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Authentication &amp; Logon Activity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Account Management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 Policy &amp; Log Tampering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Privilege Escalation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9" name="Google Shape;599;p64"/>
          <p:cNvSpPr txBox="1"/>
          <p:nvPr/>
        </p:nvSpPr>
        <p:spPr>
          <a:xfrm>
            <a:off x="455250" y="2602876"/>
            <a:ext cx="8233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Application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Software Crashes/Faults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Software Installs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 Engine (ESENT) Events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App-Specific Audits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00" name="Google Shape;600;p64"/>
          <p:cNvPicPr preferRelativeResize="0"/>
          <p:nvPr/>
        </p:nvPicPr>
        <p:blipFill rotWithShape="1">
          <a:blip r:embed="rId3">
            <a:alphaModFix/>
          </a:blip>
          <a:srcRect b="8400" l="0" r="57008" t="0"/>
          <a:stretch/>
        </p:blipFill>
        <p:spPr>
          <a:xfrm>
            <a:off x="5210850" y="1338450"/>
            <a:ext cx="3079775" cy="30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Event Logs</a:t>
            </a:r>
            <a:endParaRPr/>
          </a:p>
        </p:txBody>
      </p:sp>
      <p:sp>
        <p:nvSpPr>
          <p:cNvPr id="606" name="Google Shape;606;p65"/>
          <p:cNvSpPr txBox="1"/>
          <p:nvPr/>
        </p:nvSpPr>
        <p:spPr>
          <a:xfrm>
            <a:off x="471975" y="1182326"/>
            <a:ext cx="8233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Service Installation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Health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 Changes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Network/IP Events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 what event IDs you’re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looking for, using </a:t>
            </a:r>
            <a:r>
              <a:rPr lang="en" sz="18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list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Tools: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Windows Event Viewer itself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omerbenamram/evtx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VS Code EVTX extension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Python-evtx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07" name="Google Shape;607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0725" y="1307425"/>
            <a:ext cx="4237498" cy="22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5"/>
          <p:cNvSpPr txBox="1"/>
          <p:nvPr/>
        </p:nvSpPr>
        <p:spPr>
          <a:xfrm>
            <a:off x="4290725" y="3583525"/>
            <a:ext cx="42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Lookup for details!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- Tools for the rest</a:t>
            </a:r>
            <a:endParaRPr/>
          </a:p>
        </p:txBody>
      </p:sp>
      <p:pic>
        <p:nvPicPr>
          <p:cNvPr id="614" name="Google Shape;61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833" y="2812825"/>
            <a:ext cx="1531059" cy="1531059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66"/>
          <p:cNvSpPr txBox="1"/>
          <p:nvPr/>
        </p:nvSpPr>
        <p:spPr>
          <a:xfrm>
            <a:off x="3685200" y="4257557"/>
            <a:ext cx="1724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400" lIns="57400" spcFirstLastPara="1" rIns="57400" wrap="square" tIns="57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Prefetch</a:t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(Prefetch of files ran)</a:t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16" name="Google Shape;61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125" y="1579975"/>
            <a:ext cx="1641625" cy="139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6"/>
          <p:cNvSpPr txBox="1"/>
          <p:nvPr/>
        </p:nvSpPr>
        <p:spPr>
          <a:xfrm>
            <a:off x="5620738" y="2991657"/>
            <a:ext cx="17244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400" lIns="57400" spcFirstLastPara="1" rIns="57400" wrap="square" tIns="57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MFT</a:t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(Alternate data streams)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8" name="Google Shape;618;p66"/>
          <p:cNvSpPr txBox="1"/>
          <p:nvPr/>
        </p:nvSpPr>
        <p:spPr>
          <a:xfrm>
            <a:off x="7608875" y="3623950"/>
            <a:ext cx="75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</a:t>
            </a:r>
            <a:endParaRPr sz="4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9" name="Google Shape;619;p66"/>
          <p:cNvSpPr txBox="1"/>
          <p:nvPr/>
        </p:nvSpPr>
        <p:spPr>
          <a:xfrm>
            <a:off x="676975" y="1477925"/>
            <a:ext cx="3985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Eric Zimmerman’s tools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NirSoft’s tools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 u="sng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San’s tool curation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Dumps</a:t>
            </a:r>
            <a:endParaRPr/>
          </a:p>
        </p:txBody>
      </p:sp>
      <p:grpSp>
        <p:nvGrpSpPr>
          <p:cNvPr id="625" name="Google Shape;625;p67"/>
          <p:cNvGrpSpPr/>
          <p:nvPr/>
        </p:nvGrpSpPr>
        <p:grpSpPr>
          <a:xfrm>
            <a:off x="1657350" y="1243350"/>
            <a:ext cx="5829300" cy="3429000"/>
            <a:chOff x="1657350" y="1243350"/>
            <a:chExt cx="5829300" cy="3429000"/>
          </a:xfrm>
        </p:grpSpPr>
        <p:pic>
          <p:nvPicPr>
            <p:cNvPr id="626" name="Google Shape;626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73700" y="2340825"/>
              <a:ext cx="3093225" cy="2121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67" title="l1ctus1g68rc8vfqh2mga75svh-6837f0b8f51cde70f62323c4ad595bc1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57350" y="1243350"/>
              <a:ext cx="5829300" cy="342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Dumps - Information to extract</a:t>
            </a:r>
            <a:endParaRPr/>
          </a:p>
        </p:txBody>
      </p:sp>
      <p:sp>
        <p:nvSpPr>
          <p:cNvPr id="633" name="Google Shape;633;p68"/>
          <p:cNvSpPr txBox="1"/>
          <p:nvPr/>
        </p:nvSpPr>
        <p:spPr>
          <a:xfrm>
            <a:off x="366750" y="1208125"/>
            <a:ext cx="5235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Running processes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Command history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Loaded kernel modules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information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Dumps - Tools</a:t>
            </a:r>
            <a:endParaRPr/>
          </a:p>
        </p:txBody>
      </p:sp>
      <p:sp>
        <p:nvSpPr>
          <p:cNvPr id="639" name="Google Shape;639;p69"/>
          <p:cNvSpPr txBox="1"/>
          <p:nvPr/>
        </p:nvSpPr>
        <p:spPr>
          <a:xfrm>
            <a:off x="676975" y="1477925"/>
            <a:ext cx="398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Volatility 2</a:t>
            </a:r>
            <a:r>
              <a:rPr lang="en" sz="2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</a:t>
            </a:r>
            <a:r>
              <a:rPr lang="en" sz="2000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run</a:t>
            </a:r>
            <a:r>
              <a:rPr lang="en" sz="2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) </a:t>
            </a:r>
            <a:endParaRPr sz="2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Volatility 3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MemProcFS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2 versions of volatility?</a:t>
            </a:r>
            <a:endParaRPr/>
          </a:p>
        </p:txBody>
      </p:sp>
      <p:sp>
        <p:nvSpPr>
          <p:cNvPr id="645" name="Google Shape;645;p70"/>
          <p:cNvSpPr txBox="1"/>
          <p:nvPr/>
        </p:nvSpPr>
        <p:spPr>
          <a:xfrm>
            <a:off x="366750" y="1208125"/>
            <a:ext cx="7087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Updated to Python3, lost some modules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imageinfo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connections, connscan, sockets, sockscan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deskscan, sessions, atomscan, userhandles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pihooks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Iehistory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creenshot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otepad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lipboard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mdscan, consoles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Volatility - symbols</a:t>
            </a:r>
            <a:endParaRPr/>
          </a:p>
        </p:txBody>
      </p:sp>
      <p:sp>
        <p:nvSpPr>
          <p:cNvPr id="651" name="Google Shape;651;p71"/>
          <p:cNvSpPr txBox="1"/>
          <p:nvPr/>
        </p:nvSpPr>
        <p:spPr>
          <a:xfrm>
            <a:off x="366750" y="1208125"/>
            <a:ext cx="52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Finding banners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2" name="Google Shape;652;p71"/>
          <p:cNvSpPr txBox="1"/>
          <p:nvPr/>
        </p:nvSpPr>
        <p:spPr>
          <a:xfrm>
            <a:off x="471275" y="1669825"/>
            <a:ext cx="832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❯ python3 volatility3/vol.py -f memory.elf banners</a:t>
            </a:r>
            <a:endParaRPr sz="1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Offset                Banner</a:t>
            </a:r>
            <a:endParaRPr sz="1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0x156000e0    Linux version 6.12.73+deb13-amd64 (debian-kernel@lists.debian.org) (x86_64-linux-gnu-gcc-14 (Debian 14.2.0-19) 14.2.0, GNU ld (GNU Binutils for Debian) 2.44) # SMP PREEMPT_DYNAMIC Debian 6.12.73-1 (2026-02-17)</a:t>
            </a:r>
            <a:endParaRPr sz="1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3" name="Google Shape;653;p71"/>
          <p:cNvSpPr txBox="1"/>
          <p:nvPr/>
        </p:nvSpPr>
        <p:spPr>
          <a:xfrm>
            <a:off x="366750" y="2571750"/>
            <a:ext cx="523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Finding the symbols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Abyss-W4tcher/volatility3-symbols</a:t>
            </a:r>
            <a:endParaRPr sz="18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Extracting them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AutoNum type="arabicPeriod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Download the debug-symbol vmlinux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AutoNum type="arabicPeriod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Extract using </a:t>
            </a:r>
            <a:r>
              <a:rPr lang="en" sz="18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dwarf2json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4" name="Google Shape;654;p71"/>
          <p:cNvSpPr txBox="1"/>
          <p:nvPr/>
        </p:nvSpPr>
        <p:spPr>
          <a:xfrm>
            <a:off x="408450" y="4099550"/>
            <a:ext cx="832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❯ </a:t>
            </a:r>
            <a:r>
              <a:rPr lang="en" sz="1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dwarf2json linux --elf ./debian-debug/boot/vmlinux-4.4.0-137-generic &gt; output.json</a:t>
            </a:r>
            <a:endParaRPr sz="1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Analysis</a:t>
            </a:r>
            <a:endParaRPr/>
          </a:p>
        </p:txBody>
      </p:sp>
      <p:sp>
        <p:nvSpPr>
          <p:cNvPr id="660" name="Google Shape;660;p72"/>
          <p:cNvSpPr txBox="1"/>
          <p:nvPr/>
        </p:nvSpPr>
        <p:spPr>
          <a:xfrm>
            <a:off x="366750" y="1208125"/>
            <a:ext cx="3985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Remote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Any.run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tria.ge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Joe Sandbox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Cuckoo Sandbox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1" name="Google Shape;661;p72"/>
          <p:cNvSpPr txBox="1"/>
          <p:nvPr/>
        </p:nvSpPr>
        <p:spPr>
          <a:xfrm>
            <a:off x="366750" y="2901325"/>
            <a:ext cx="634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Local (Inside a VM)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Monitor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Windows SysInternals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Tools</a:t>
            </a:r>
            <a:endParaRPr/>
          </a:p>
        </p:txBody>
      </p:sp>
      <p:sp>
        <p:nvSpPr>
          <p:cNvPr id="667" name="Google Shape;667;p73"/>
          <p:cNvSpPr txBox="1"/>
          <p:nvPr/>
        </p:nvSpPr>
        <p:spPr>
          <a:xfrm>
            <a:off x="676975" y="1477925"/>
            <a:ext cx="3985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mesquidar/ForensicsTools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"/>
              <a:buChar char="●"/>
            </a:pPr>
            <a:r>
              <a:rPr lang="en" sz="2000">
                <a:solidFill>
                  <a:srgbClr val="3C78D8"/>
                </a:solidFill>
                <a:uFill>
                  <a:noFill/>
                </a:u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cugu/awesome-forensics</a:t>
            </a:r>
            <a:endParaRPr sz="2000">
              <a:solidFill>
                <a:srgbClr val="3C78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